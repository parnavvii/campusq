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6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Parnavi Sharma and Diya Wadhwani. Our idea is CampusQ: a smart queue system for campus service counters. The phone on the right is the real app: a student holding token A024 sees that A023 is being served and that they are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campus has counters where students physically wait: the certificate section, fee payment, help desks, lab access. Students cannot tell how long it will take, so they stay and crowd the counter, and staff spend their time managing the line instead of serving.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CampusQ turns the physical line into a digital token. The student picks a counter, joins, and gets a token such as A024. Their position and estimated wait update live, they get a heads-up when they are next and an alert when it is their turn, and staff call them with one tap.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use CampusQ from the phone they already carry, with no app store download. The left phone is the live services list; the right phone is Rahul’s token A024, which tells him he is next and should head to the counter.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staff console for the Certificate Section. A023 is being served, and the big amber button calls A024 next. Staff can complete, skip a no-show, or pause the queue during a break without anyone losing their place.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get live statistics per counter, including a seven-day chart. Admins manage the whole system: they create counters with their own token prefixes, change their status, and create staff accounts and assign them to counters.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estimate is simple and honest: people ahead times the counter’s real average service time. In our demo, A021 is being served and two students are waiting, so a new student gets A024 with three ahead, which at three minutes each is about nine minutes. The average comes from the last 20 completed tokens.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CampusQ is a full-stack web app: a React front end, a Node and Express API with Socket.IO for live updates, and MySQL. Sockets only announce that something changed; screens then re-fetch over the REST API, so every permission rule is enforced in one place.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Queues break when many people act at once, so we built for that. Six simultaneous joins get six consecutive tokens, rapid Call Next clicks never produce two tokens being served, and staff can only operate their assigned counters. The rules live in the database and the API, and an automated script checks the whole workflow.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would add SMS and WhatsApp alerts, QR codes at each counter so joining is one scan, peak-hour insights for offices, and a rollout across departments. Thank you, we are happy to take questions or show a live demo.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a:effectLst/>
      </p:bgPr>
    </p:bg>
    <p:spTree>
      <p:nvGrpSpPr>
        <p:cNvPr id="1" name=""/>
        <p:cNvGrpSpPr/>
        <p:nvPr/>
      </p:nvGrpSpPr>
      <p:grpSpPr>
        <a:xfrm>
          <a:off x="0" y="0"/>
          <a:ext cx="0" cy="0"/>
          <a:chOff x="0" y="0"/>
          <a:chExt cx="0" cy="0"/>
        </a:xfrm>
      </p:grpSpPr>
      <p:sp>
        <p:nvSpPr>
          <p:cNvPr id="2" name="Shape 0"/>
          <p:cNvSpPr/>
          <p:nvPr/>
        </p:nvSpPr>
        <p:spPr>
          <a:xfrm>
            <a:off x="548640" y="502920"/>
            <a:ext cx="475488" cy="475488"/>
          </a:xfrm>
          <a:prstGeom prst="roundRect">
            <a:avLst>
              <a:gd name="adj" fmla="val 13462"/>
            </a:avLst>
          </a:prstGeom>
          <a:solidFill>
            <a:srgbClr val="F4B400"/>
          </a:solidFill>
          <a:ln w="12700">
            <a:solidFill>
              <a:srgbClr val="F4B400"/>
            </a:solidFill>
            <a:prstDash val="solid"/>
          </a:ln>
        </p:spPr>
      </p:sp>
      <p:sp>
        <p:nvSpPr>
          <p:cNvPr id="3" name="Text 1"/>
          <p:cNvSpPr txBox="1"/>
          <p:nvPr/>
        </p:nvSpPr>
        <p:spPr>
          <a:xfrm>
            <a:off x="548640" y="502920"/>
            <a:ext cx="475488" cy="475488"/>
          </a:xfrm>
          <a:prstGeom prst="rect">
            <a:avLst/>
          </a:prstGeom>
          <a:noFill/>
          <a:ln/>
        </p:spPr>
        <p:txBody>
          <a:bodyPr wrap="square" lIns="0" tIns="0" rIns="0" bIns="0" rtlCol="0" anchor="ctr"/>
          <a:lstStyle/>
          <a:p>
            <a:pPr marL="0" indent="0" algn="ctr">
              <a:buNone/>
            </a:pPr>
            <a:r>
              <a:rPr lang="en-US" sz="2400" dirty="0">
                <a:solidFill>
                  <a:srgbClr val="172033"/>
                </a:solidFill>
                <a:latin typeface="Bahnschrift SemiBold Condensed" pitchFamily="34" charset="0"/>
                <a:ea typeface="Bahnschrift SemiBold Condensed" pitchFamily="34" charset="-122"/>
                <a:cs typeface="Bahnschrift SemiBold Condensed" pitchFamily="34" charset="-120"/>
              </a:rPr>
              <a:t>Q</a:t>
            </a:r>
            <a:endParaRPr lang="en-US" sz="2400" dirty="0"/>
          </a:p>
        </p:txBody>
      </p:sp>
      <p:sp>
        <p:nvSpPr>
          <p:cNvPr id="4" name="Text 2"/>
          <p:cNvSpPr txBox="1"/>
          <p:nvPr/>
        </p:nvSpPr>
        <p:spPr>
          <a:xfrm>
            <a:off x="1143000" y="502920"/>
            <a:ext cx="2743200" cy="475488"/>
          </a:xfrm>
          <a:prstGeom prst="rect">
            <a:avLst/>
          </a:prstGeom>
          <a:noFill/>
          <a:ln/>
        </p:spPr>
        <p:txBody>
          <a:bodyPr wrap="square" lIns="0" tIns="0" rIns="0" bIns="0" rtlCol="0" anchor="ctr"/>
          <a:lstStyle/>
          <a:p>
            <a:pPr marL="0" indent="0">
              <a:buNone/>
            </a:pPr>
            <a:r>
              <a:rPr lang="en-US" sz="2800" dirty="0">
                <a:solidFill>
                  <a:srgbClr val="FFFFFF"/>
                </a:solidFill>
                <a:latin typeface="Bahnschrift SemiBold Condensed" pitchFamily="34" charset="0"/>
                <a:ea typeface="Bahnschrift SemiBold Condensed" pitchFamily="34" charset="-122"/>
                <a:cs typeface="Bahnschrift SemiBold Condensed" pitchFamily="34" charset="-120"/>
              </a:rPr>
              <a:t>CampusQ</a:t>
            </a:r>
            <a:endParaRPr lang="en-US" sz="2800" dirty="0"/>
          </a:p>
        </p:txBody>
      </p:sp>
      <p:sp>
        <p:nvSpPr>
          <p:cNvPr id="5" name="Text 3"/>
          <p:cNvSpPr txBox="1"/>
          <p:nvPr/>
        </p:nvSpPr>
        <p:spPr>
          <a:xfrm>
            <a:off x="548640" y="1691640"/>
            <a:ext cx="6217920" cy="320040"/>
          </a:xfrm>
          <a:prstGeom prst="rect">
            <a:avLst/>
          </a:prstGeom>
          <a:noFill/>
          <a:ln/>
        </p:spPr>
        <p:txBody>
          <a:bodyPr wrap="square" lIns="0" tIns="0" rIns="0" bIns="0" rtlCol="0" anchor="ctr"/>
          <a:lstStyle/>
          <a:p>
            <a:pPr marL="0" indent="0">
              <a:buNone/>
            </a:pPr>
            <a:r>
              <a:rPr lang="en-US" sz="1200" b="1" kern="0" spc="300" dirty="0">
                <a:solidFill>
                  <a:srgbClr val="F4B400"/>
                </a:solidFill>
                <a:latin typeface="Calibri" pitchFamily="34" charset="0"/>
                <a:ea typeface="Calibri" pitchFamily="34" charset="-122"/>
                <a:cs typeface="Calibri" pitchFamily="34" charset="-120"/>
              </a:rPr>
              <a:t>VISION2WEB FULL STACK HACKATHON  ·  IDEA PITCH</a:t>
            </a:r>
            <a:endParaRPr lang="en-US" sz="1200" dirty="0"/>
          </a:p>
        </p:txBody>
      </p:sp>
      <p:sp>
        <p:nvSpPr>
          <p:cNvPr id="6" name="Text 4"/>
          <p:cNvSpPr txBox="1"/>
          <p:nvPr/>
        </p:nvSpPr>
        <p:spPr>
          <a:xfrm>
            <a:off x="548640" y="2057400"/>
            <a:ext cx="6217920" cy="1737360"/>
          </a:xfrm>
          <a:prstGeom prst="rect">
            <a:avLst/>
          </a:prstGeom>
          <a:noFill/>
          <a:ln/>
        </p:spPr>
        <p:txBody>
          <a:bodyPr wrap="square" lIns="0" tIns="0" rIns="0" bIns="0" rtlCol="0" anchor="t"/>
          <a:lstStyle/>
          <a:p>
            <a:pPr marL="0" indent="0">
              <a:lnSpc>
                <a:spcPct val="92000"/>
              </a:lnSpc>
              <a:buNone/>
            </a:pPr>
            <a:r>
              <a:rPr lang="en-US" sz="5600" dirty="0">
                <a:solidFill>
                  <a:srgbClr val="FFFFFF"/>
                </a:solidFill>
                <a:latin typeface="Bahnschrift SemiBold" pitchFamily="34" charset="0"/>
                <a:ea typeface="Bahnschrift SemiBold" pitchFamily="34" charset="-122"/>
                <a:cs typeface="Bahnschrift SemiBold" pitchFamily="34" charset="-120"/>
              </a:rPr>
              <a:t>Skip the line,</a:t>
            </a:r>
            <a:endParaRPr lang="en-US" sz="5600" dirty="0"/>
          </a:p>
          <a:p>
            <a:pPr marL="0" indent="0">
              <a:lnSpc>
                <a:spcPct val="92000"/>
              </a:lnSpc>
              <a:buNone/>
            </a:pPr>
            <a:r>
              <a:rPr lang="en-US" sz="5600" dirty="0">
                <a:solidFill>
                  <a:srgbClr val="FFFFFF"/>
                </a:solidFill>
                <a:latin typeface="Bahnschrift SemiBold" pitchFamily="34" charset="0"/>
                <a:ea typeface="Bahnschrift SemiBold" pitchFamily="34" charset="-122"/>
                <a:cs typeface="Bahnschrift SemiBold" pitchFamily="34" charset="-120"/>
              </a:rPr>
              <a:t>not the class.</a:t>
            </a:r>
            <a:endParaRPr lang="en-US" sz="5600" dirty="0"/>
          </a:p>
        </p:txBody>
      </p:sp>
      <p:sp>
        <p:nvSpPr>
          <p:cNvPr id="7" name="Text 5"/>
          <p:cNvSpPr txBox="1"/>
          <p:nvPr/>
        </p:nvSpPr>
        <p:spPr>
          <a:xfrm>
            <a:off x="548640" y="3886200"/>
            <a:ext cx="5760720" cy="914400"/>
          </a:xfrm>
          <a:prstGeom prst="rect">
            <a:avLst/>
          </a:prstGeom>
          <a:noFill/>
          <a:ln/>
        </p:spPr>
        <p:txBody>
          <a:bodyPr wrap="square" lIns="0" tIns="0" rIns="0" bIns="0" rtlCol="0" anchor="t"/>
          <a:lstStyle/>
          <a:p>
            <a:pPr marL="0" indent="0">
              <a:lnSpc>
                <a:spcPct val="110000"/>
              </a:lnSpc>
              <a:buNone/>
            </a:pPr>
            <a:r>
              <a:rPr lang="en-US" sz="1700" dirty="0">
                <a:solidFill>
                  <a:srgbClr val="C9D1DE"/>
                </a:solidFill>
                <a:latin typeface="Calibri" pitchFamily="34" charset="0"/>
                <a:ea typeface="Calibri" pitchFamily="34" charset="-122"/>
                <a:cs typeface="Calibri" pitchFamily="34" charset="-120"/>
              </a:rPr>
              <a:t>CampusQ is a smart queue system for campus counters. Take a token from your phone, watch your place update live, and walk over when it’s your turn.</a:t>
            </a:r>
            <a:endParaRPr lang="en-US" sz="1700" dirty="0"/>
          </a:p>
        </p:txBody>
      </p:sp>
      <p:sp>
        <p:nvSpPr>
          <p:cNvPr id="8" name="Text 6"/>
          <p:cNvSpPr txBox="1"/>
          <p:nvPr/>
        </p:nvSpPr>
        <p:spPr>
          <a:xfrm>
            <a:off x="548640" y="5120640"/>
            <a:ext cx="3657600" cy="274320"/>
          </a:xfrm>
          <a:prstGeom prst="rect">
            <a:avLst/>
          </a:prstGeom>
          <a:noFill/>
          <a:ln/>
        </p:spPr>
        <p:txBody>
          <a:bodyPr wrap="square" lIns="0" tIns="0" rIns="0" bIns="0" rtlCol="0" anchor="ctr"/>
          <a:lstStyle/>
          <a:p>
            <a:pPr marL="0" indent="0">
              <a:buNone/>
            </a:pPr>
            <a:r>
              <a:rPr lang="en-US" sz="1100" b="1" kern="0" spc="300" dirty="0">
                <a:solidFill>
                  <a:srgbClr val="F4B400"/>
                </a:solidFill>
                <a:latin typeface="Calibri" pitchFamily="34" charset="0"/>
                <a:ea typeface="Calibri" pitchFamily="34" charset="-122"/>
                <a:cs typeface="Calibri" pitchFamily="34" charset="-120"/>
              </a:rPr>
              <a:t>PRESENTED BY</a:t>
            </a:r>
            <a:endParaRPr lang="en-US" sz="1100" dirty="0"/>
          </a:p>
        </p:txBody>
      </p:sp>
      <p:sp>
        <p:nvSpPr>
          <p:cNvPr id="9" name="Text 7"/>
          <p:cNvSpPr txBox="1"/>
          <p:nvPr/>
        </p:nvSpPr>
        <p:spPr>
          <a:xfrm>
            <a:off x="548640" y="5440680"/>
            <a:ext cx="2743200"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Parnavi Sharma</a:t>
            </a:r>
            <a:endParaRPr lang="en-US" sz="1900" dirty="0"/>
          </a:p>
        </p:txBody>
      </p:sp>
      <p:sp>
        <p:nvSpPr>
          <p:cNvPr id="10" name="Text 8"/>
          <p:cNvSpPr txBox="1"/>
          <p:nvPr/>
        </p:nvSpPr>
        <p:spPr>
          <a:xfrm>
            <a:off x="548640" y="5806440"/>
            <a:ext cx="2743200" cy="292608"/>
          </a:xfrm>
          <a:prstGeom prst="rect">
            <a:avLst/>
          </a:prstGeom>
          <a:noFill/>
          <a:ln/>
        </p:spPr>
        <p:txBody>
          <a:bodyPr wrap="square" lIns="0" tIns="0" rIns="0" bIns="0" rtlCol="0" anchor="ctr"/>
          <a:lstStyle/>
          <a:p>
            <a:pPr marL="0" indent="0">
              <a:buNone/>
            </a:pPr>
            <a:r>
              <a:rPr lang="en-US" sz="1400" dirty="0">
                <a:solidFill>
                  <a:srgbClr val="9AA6BC"/>
                </a:solidFill>
                <a:latin typeface="Calibri" pitchFamily="34" charset="0"/>
                <a:ea typeface="Calibri" pitchFamily="34" charset="-122"/>
                <a:cs typeface="Calibri" pitchFamily="34" charset="-120"/>
              </a:rPr>
              <a:t>RA2411003010038</a:t>
            </a:r>
            <a:endParaRPr lang="en-US" sz="1400" dirty="0"/>
          </a:p>
        </p:txBody>
      </p:sp>
      <p:sp>
        <p:nvSpPr>
          <p:cNvPr id="11" name="Text 9"/>
          <p:cNvSpPr txBox="1"/>
          <p:nvPr/>
        </p:nvSpPr>
        <p:spPr>
          <a:xfrm>
            <a:off x="3429000" y="5440680"/>
            <a:ext cx="2743200"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Diya Wadhwani</a:t>
            </a:r>
            <a:endParaRPr lang="en-US" sz="1900" dirty="0"/>
          </a:p>
        </p:txBody>
      </p:sp>
      <p:sp>
        <p:nvSpPr>
          <p:cNvPr id="12" name="Text 10"/>
          <p:cNvSpPr txBox="1"/>
          <p:nvPr/>
        </p:nvSpPr>
        <p:spPr>
          <a:xfrm>
            <a:off x="3429000" y="5806440"/>
            <a:ext cx="2743200" cy="292608"/>
          </a:xfrm>
          <a:prstGeom prst="rect">
            <a:avLst/>
          </a:prstGeom>
          <a:noFill/>
          <a:ln/>
        </p:spPr>
        <p:txBody>
          <a:bodyPr wrap="square" lIns="0" tIns="0" rIns="0" bIns="0" rtlCol="0" anchor="ctr"/>
          <a:lstStyle/>
          <a:p>
            <a:pPr marL="0" indent="0">
              <a:buNone/>
            </a:pPr>
            <a:r>
              <a:rPr lang="en-US" sz="1400" dirty="0">
                <a:solidFill>
                  <a:srgbClr val="9AA6BC"/>
                </a:solidFill>
                <a:latin typeface="Calibri" pitchFamily="34" charset="0"/>
                <a:ea typeface="Calibri" pitchFamily="34" charset="-122"/>
                <a:cs typeface="Calibri" pitchFamily="34" charset="-120"/>
              </a:rPr>
              <a:t>RA2411003010039</a:t>
            </a:r>
            <a:endParaRPr lang="en-US" sz="1400" dirty="0"/>
          </a:p>
        </p:txBody>
      </p:sp>
      <p:sp>
        <p:nvSpPr>
          <p:cNvPr id="13" name="Shape 11"/>
          <p:cNvSpPr/>
          <p:nvPr/>
        </p:nvSpPr>
        <p:spPr>
          <a:xfrm>
            <a:off x="8534095" y="457200"/>
            <a:ext cx="2844824" cy="5943600"/>
          </a:xfrm>
          <a:prstGeom prst="roundRect">
            <a:avLst>
              <a:gd name="adj" fmla="val 9643"/>
            </a:avLst>
          </a:prstGeom>
          <a:solidFill>
            <a:srgbClr val="0B1020"/>
          </a:solidFill>
          <a:ln w="12700">
            <a:solidFill>
              <a:srgbClr val="3A4760"/>
            </a:solidFill>
            <a:prstDash val="solid"/>
          </a:ln>
          <a:effectLst>
            <a:outerShdw blurRad="203200" dist="63500" dir="5400000" algn="bl" rotWithShape="0">
              <a:srgbClr val="0B1020">
                <a:alpha val="30000"/>
              </a:srgbClr>
            </a:outerShdw>
          </a:effectLst>
        </p:spPr>
      </p:sp>
      <p:pic>
        <p:nvPicPr>
          <p:cNvPr id="14" name="Image 0" descr="C:\Users\Parnavi\AppData\Local\Temp\claude\C--Users-Parnavi-Downloads-files-campusq-campusq\95c25616-eec3-4b7f-853a-47da81de960f\scratchpad\deck\shots\ticket-mobile.png"/>
          <p:cNvPicPr>
            <a:picLocks noChangeAspect="1"/>
          </p:cNvPicPr>
          <p:nvPr/>
        </p:nvPicPr>
        <p:blipFill>
          <a:blip r:embed="rId3"/>
          <a:stretch>
            <a:fillRect/>
          </a:stretch>
        </p:blipFill>
        <p:spPr>
          <a:xfrm>
            <a:off x="8625535" y="548640"/>
            <a:ext cx="2661944" cy="5760720"/>
          </a:xfrm>
          <a:prstGeom prst="rect">
            <a:avLst/>
          </a:prstGeom>
        </p:spPr>
      </p:pic>
      <p:sp>
        <p:nvSpPr>
          <p:cNvPr id="15" name="Shape 12"/>
          <p:cNvSpPr/>
          <p:nvPr/>
        </p:nvSpPr>
        <p:spPr>
          <a:xfrm>
            <a:off x="7106591" y="1325880"/>
            <a:ext cx="1828800" cy="1005840"/>
          </a:xfrm>
          <a:prstGeom prst="roundRect">
            <a:avLst>
              <a:gd name="adj" fmla="val 9091"/>
            </a:avLst>
          </a:prstGeom>
          <a:solidFill>
            <a:srgbClr val="24304A"/>
          </a:solidFill>
          <a:ln w="12700">
            <a:solidFill>
              <a:srgbClr val="3A4760"/>
            </a:solidFill>
            <a:prstDash val="solid"/>
          </a:ln>
          <a:effectLst>
            <a:outerShdw blurRad="203200" dist="63500" dir="5400000" algn="bl" rotWithShape="0">
              <a:srgbClr val="0B1020">
                <a:alpha val="35000"/>
              </a:srgbClr>
            </a:outerShdw>
          </a:effectLst>
        </p:spPr>
      </p:sp>
      <p:sp>
        <p:nvSpPr>
          <p:cNvPr id="16" name="Text 13"/>
          <p:cNvSpPr txBox="1"/>
          <p:nvPr/>
        </p:nvSpPr>
        <p:spPr>
          <a:xfrm>
            <a:off x="7289471" y="1444752"/>
            <a:ext cx="1554480" cy="228600"/>
          </a:xfrm>
          <a:prstGeom prst="rect">
            <a:avLst/>
          </a:prstGeom>
          <a:noFill/>
          <a:ln/>
        </p:spPr>
        <p:txBody>
          <a:bodyPr wrap="square" lIns="0" tIns="0" rIns="0" bIns="0" rtlCol="0" anchor="ctr"/>
          <a:lstStyle/>
          <a:p>
            <a:pPr marL="0" indent="0">
              <a:buNone/>
            </a:pPr>
            <a:r>
              <a:rPr lang="en-US" sz="900" b="1" kern="0" spc="200" dirty="0">
                <a:solidFill>
                  <a:srgbClr val="9AA6BC"/>
                </a:solidFill>
                <a:latin typeface="Calibri" pitchFamily="34" charset="0"/>
                <a:ea typeface="Calibri" pitchFamily="34" charset="-122"/>
                <a:cs typeface="Calibri" pitchFamily="34" charset="-120"/>
              </a:rPr>
              <a:t>NOW SERVING</a:t>
            </a:r>
            <a:endParaRPr lang="en-US" sz="900" dirty="0"/>
          </a:p>
        </p:txBody>
      </p:sp>
      <p:sp>
        <p:nvSpPr>
          <p:cNvPr id="17" name="Text 14"/>
          <p:cNvSpPr txBox="1"/>
          <p:nvPr/>
        </p:nvSpPr>
        <p:spPr>
          <a:xfrm>
            <a:off x="7289471" y="1645920"/>
            <a:ext cx="1554480" cy="594360"/>
          </a:xfrm>
          <a:prstGeom prst="rect">
            <a:avLst/>
          </a:prstGeom>
          <a:noFill/>
          <a:ln/>
        </p:spPr>
        <p:txBody>
          <a:bodyPr wrap="square" lIns="0" tIns="0" rIns="0" bIns="0" rtlCol="0" anchor="ctr"/>
          <a:lstStyle/>
          <a:p>
            <a:pPr marL="0" indent="0">
              <a:buNone/>
            </a:pPr>
            <a:r>
              <a:rPr lang="en-US" sz="3600" dirty="0">
                <a:solidFill>
                  <a:srgbClr val="F4B400"/>
                </a:solidFill>
                <a:latin typeface="Bahnschrift SemiBold Condensed" pitchFamily="34" charset="0"/>
                <a:ea typeface="Bahnschrift SemiBold Condensed" pitchFamily="34" charset="-122"/>
                <a:cs typeface="Bahnschrift SemiBold Condensed" pitchFamily="34" charset="-120"/>
              </a:rPr>
              <a:t>A023</a:t>
            </a:r>
            <a:endParaRPr lang="en-US" sz="3600" dirty="0"/>
          </a:p>
        </p:txBody>
      </p:sp>
      <p:sp>
        <p:nvSpPr>
          <p:cNvPr id="18" name="Shape 15"/>
          <p:cNvSpPr/>
          <p:nvPr/>
        </p:nvSpPr>
        <p:spPr>
          <a:xfrm>
            <a:off x="6832271" y="4480560"/>
            <a:ext cx="2011680" cy="1005840"/>
          </a:xfrm>
          <a:prstGeom prst="roundRect">
            <a:avLst>
              <a:gd name="adj" fmla="val 9091"/>
            </a:avLst>
          </a:prstGeom>
          <a:solidFill>
            <a:srgbClr val="F4B400"/>
          </a:solidFill>
          <a:ln w="12700">
            <a:solidFill>
              <a:srgbClr val="F4B400"/>
            </a:solidFill>
            <a:prstDash val="solid"/>
          </a:ln>
          <a:effectLst>
            <a:outerShdw blurRad="203200" dist="63500" dir="5400000" algn="bl" rotWithShape="0">
              <a:srgbClr val="0B1020">
                <a:alpha val="35000"/>
              </a:srgbClr>
            </a:outerShdw>
          </a:effectLst>
        </p:spPr>
      </p:sp>
      <p:sp>
        <p:nvSpPr>
          <p:cNvPr id="19" name="Text 16"/>
          <p:cNvSpPr txBox="1"/>
          <p:nvPr/>
        </p:nvSpPr>
        <p:spPr>
          <a:xfrm>
            <a:off x="7015151" y="4599432"/>
            <a:ext cx="1737360" cy="228600"/>
          </a:xfrm>
          <a:prstGeom prst="rect">
            <a:avLst/>
          </a:prstGeom>
          <a:noFill/>
          <a:ln/>
        </p:spPr>
        <p:txBody>
          <a:bodyPr wrap="square" lIns="0" tIns="0" rIns="0" bIns="0" rtlCol="0" anchor="ctr"/>
          <a:lstStyle/>
          <a:p>
            <a:pPr marL="0" indent="0">
              <a:buNone/>
            </a:pPr>
            <a:r>
              <a:rPr lang="en-US" sz="900" b="1" kern="0" spc="200" dirty="0">
                <a:solidFill>
                  <a:srgbClr val="172033"/>
                </a:solidFill>
                <a:latin typeface="Calibri" pitchFamily="34" charset="0"/>
                <a:ea typeface="Calibri" pitchFamily="34" charset="-122"/>
                <a:cs typeface="Calibri" pitchFamily="34" charset="-120"/>
              </a:rPr>
              <a:t>YOU’RE NEXT</a:t>
            </a:r>
            <a:endParaRPr lang="en-US" sz="900" dirty="0"/>
          </a:p>
        </p:txBody>
      </p:sp>
      <p:sp>
        <p:nvSpPr>
          <p:cNvPr id="20" name="Text 17"/>
          <p:cNvSpPr txBox="1"/>
          <p:nvPr/>
        </p:nvSpPr>
        <p:spPr>
          <a:xfrm>
            <a:off x="7015151" y="4800600"/>
            <a:ext cx="1737360" cy="594360"/>
          </a:xfrm>
          <a:prstGeom prst="rect">
            <a:avLst/>
          </a:prstGeom>
          <a:noFill/>
          <a:ln/>
        </p:spPr>
        <p:txBody>
          <a:bodyPr wrap="square" lIns="0" tIns="0" rIns="0" bIns="0" rtlCol="0" anchor="ctr"/>
          <a:lstStyle/>
          <a:p>
            <a:pPr marL="0" indent="0">
              <a:buNone/>
            </a:pPr>
            <a:r>
              <a:rPr lang="en-US" sz="3600" dirty="0">
                <a:solidFill>
                  <a:srgbClr val="172033"/>
                </a:solidFill>
                <a:latin typeface="Bahnschrift SemiBold Condensed" pitchFamily="34" charset="0"/>
                <a:ea typeface="Bahnschrift SemiBold Condensed" pitchFamily="34" charset="-122"/>
                <a:cs typeface="Bahnschrift SemiBold Condensed" pitchFamily="34" charset="-120"/>
              </a:rPr>
              <a:t>~3 min</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749808" cy="347472"/>
          </a:xfrm>
          <a:prstGeom prst="roundRect">
            <a:avLst>
              <a:gd name="adj" fmla="val 15789"/>
            </a:avLst>
          </a:prstGeom>
          <a:solidFill>
            <a:srgbClr val="F4B400"/>
          </a:solidFill>
          <a:ln w="12700">
            <a:solidFill>
              <a:srgbClr val="F4B400"/>
            </a:solidFill>
            <a:prstDash val="solid"/>
          </a:ln>
        </p:spPr>
      </p:sp>
      <p:sp>
        <p:nvSpPr>
          <p:cNvPr id="3" name="Text 1"/>
          <p:cNvSpPr txBox="1"/>
          <p:nvPr/>
        </p:nvSpPr>
        <p:spPr>
          <a:xfrm>
            <a:off x="548640" y="411480"/>
            <a:ext cx="749808" cy="347472"/>
          </a:xfrm>
          <a:prstGeom prst="rect">
            <a:avLst/>
          </a:prstGeom>
          <a:noFill/>
          <a:ln/>
        </p:spPr>
        <p:txBody>
          <a:bodyPr wrap="square" lIns="0" tIns="0" rIns="0" bIns="0" rtlCol="0" anchor="ctr"/>
          <a:lstStyle/>
          <a:p>
            <a:pPr marL="0" indent="0" algn="ctr">
              <a:buNone/>
            </a:pPr>
            <a:r>
              <a:rPr lang="en-US" sz="1700" dirty="0">
                <a:solidFill>
                  <a:srgbClr val="172033"/>
                </a:solidFill>
                <a:latin typeface="Bahnschrift SemiBold Condensed" pitchFamily="34" charset="0"/>
                <a:ea typeface="Bahnschrift SemiBold Condensed" pitchFamily="34" charset="-122"/>
                <a:cs typeface="Bahnschrift SemiBold Condensed" pitchFamily="34" charset="-120"/>
              </a:rPr>
              <a:t>A002</a:t>
            </a:r>
            <a:endParaRPr lang="en-US" sz="1700" dirty="0"/>
          </a:p>
        </p:txBody>
      </p:sp>
      <p:sp>
        <p:nvSpPr>
          <p:cNvPr id="4" name="Text 2"/>
          <p:cNvSpPr txBox="1"/>
          <p:nvPr/>
        </p:nvSpPr>
        <p:spPr>
          <a:xfrm>
            <a:off x="1444752" y="411480"/>
            <a:ext cx="5486400" cy="347472"/>
          </a:xfrm>
          <a:prstGeom prst="rect">
            <a:avLst/>
          </a:prstGeom>
          <a:noFill/>
          <a:ln/>
        </p:spPr>
        <p:txBody>
          <a:bodyPr wrap="square" lIns="0" tIns="0" rIns="0" bIns="0" rtlCol="0" anchor="ctr"/>
          <a:lstStyle/>
          <a:p>
            <a:pPr marL="0" indent="0">
              <a:buNone/>
            </a:pPr>
            <a:r>
              <a:rPr lang="en-US" sz="1200" b="1" kern="0" spc="300" dirty="0">
                <a:solidFill>
                  <a:srgbClr val="5A6478"/>
                </a:solidFill>
                <a:latin typeface="Calibri" pitchFamily="34" charset="0"/>
                <a:ea typeface="Calibri" pitchFamily="34" charset="-122"/>
                <a:cs typeface="Calibri" pitchFamily="34" charset="-120"/>
              </a:rPr>
              <a:t>THE PROBLEM</a:t>
            </a:r>
            <a:endParaRPr lang="en-US" sz="1200" dirty="0"/>
          </a:p>
        </p:txBody>
      </p:sp>
      <p:sp>
        <p:nvSpPr>
          <p:cNvPr id="5" name="Text 3"/>
          <p:cNvSpPr txBox="1"/>
          <p:nvPr/>
        </p:nvSpPr>
        <p:spPr>
          <a:xfrm>
            <a:off x="548640" y="896112"/>
            <a:ext cx="11064240" cy="731520"/>
          </a:xfrm>
          <a:prstGeom prst="rect">
            <a:avLst/>
          </a:prstGeom>
          <a:noFill/>
          <a:ln/>
        </p:spPr>
        <p:txBody>
          <a:bodyPr wrap="square" lIns="0" tIns="0" rIns="0" bIns="0" rtlCol="0" anchor="t"/>
          <a:lstStyle/>
          <a:p>
            <a:pPr marL="0" indent="0">
              <a:buNone/>
            </a:pPr>
            <a:r>
              <a:rPr lang="en-US" sz="3400" dirty="0">
                <a:solidFill>
                  <a:srgbClr val="172033"/>
                </a:solidFill>
                <a:latin typeface="Bahnschrift SemiBold" pitchFamily="34" charset="0"/>
                <a:ea typeface="Bahnschrift SemiBold" pitchFamily="34" charset="-122"/>
                <a:cs typeface="Bahnschrift SemiBold" pitchFamily="34" charset="-120"/>
              </a:rPr>
              <a:t>Campus counters still run on standing in line</a:t>
            </a:r>
            <a:endParaRPr lang="en-US" sz="3400" dirty="0"/>
          </a:p>
        </p:txBody>
      </p:sp>
      <p:sp>
        <p:nvSpPr>
          <p:cNvPr id="6" name="Text 4"/>
          <p:cNvSpPr txBox="1"/>
          <p:nvPr/>
        </p:nvSpPr>
        <p:spPr>
          <a:xfrm>
            <a:off x="548640" y="1572768"/>
            <a:ext cx="10972800" cy="365760"/>
          </a:xfrm>
          <a:prstGeom prst="rect">
            <a:avLst/>
          </a:prstGeom>
          <a:noFill/>
          <a:ln/>
        </p:spPr>
        <p:txBody>
          <a:bodyPr wrap="square" lIns="0" tIns="0" rIns="0" bIns="0" rtlCol="0" anchor="ctr"/>
          <a:lstStyle/>
          <a:p>
            <a:pPr marL="0" indent="0">
              <a:buNone/>
            </a:pPr>
            <a:r>
              <a:rPr lang="en-US" sz="1700" dirty="0">
                <a:solidFill>
                  <a:srgbClr val="5A6478"/>
                </a:solidFill>
                <a:latin typeface="Calibri" pitchFamily="34" charset="0"/>
                <a:ea typeface="Calibri" pitchFamily="34" charset="-122"/>
                <a:cs typeface="Calibri" pitchFamily="34" charset="-120"/>
              </a:rPr>
              <a:t>Certificate sections, fee counters, help desks and labs all share the same pain.</a:t>
            </a:r>
            <a:endParaRPr lang="en-US" sz="1700" dirty="0"/>
          </a:p>
        </p:txBody>
      </p:sp>
      <p:sp>
        <p:nvSpPr>
          <p:cNvPr id="7" name="Shape 5"/>
          <p:cNvSpPr/>
          <p:nvPr/>
        </p:nvSpPr>
        <p:spPr>
          <a:xfrm>
            <a:off x="548640" y="2286000"/>
            <a:ext cx="3484778" cy="3063240"/>
          </a:xfrm>
          <a:prstGeom prst="roundRect">
            <a:avLst>
              <a:gd name="adj" fmla="val 3582"/>
            </a:avLst>
          </a:prstGeom>
          <a:solidFill>
            <a:srgbClr val="F3F5F8"/>
          </a:solidFill>
          <a:ln w="12700">
            <a:solidFill>
              <a:srgbClr val="F3F5F8"/>
            </a:solidFill>
            <a:prstDash val="solid"/>
          </a:ln>
        </p:spPr>
      </p:sp>
      <p:sp>
        <p:nvSpPr>
          <p:cNvPr id="8" name="Shape 6"/>
          <p:cNvSpPr/>
          <p:nvPr/>
        </p:nvSpPr>
        <p:spPr>
          <a:xfrm>
            <a:off x="868680" y="2606040"/>
            <a:ext cx="713232" cy="713232"/>
          </a:xfrm>
          <a:prstGeom prst="ellipse">
            <a:avLst/>
          </a:prstGeom>
          <a:solidFill>
            <a:srgbClr val="F4B400"/>
          </a:solidFill>
          <a:ln w="12700">
            <a:solidFill>
              <a:srgbClr val="F4B400"/>
            </a:solidFill>
            <a:prstDash val="solid"/>
          </a:ln>
        </p:spPr>
      </p:sp>
      <p:pic>
        <p:nvPicPr>
          <p:cNvPr id="9" name="Image 0" descr="preencoded.png"/>
          <p:cNvPicPr>
            <a:picLocks noChangeAspect="1"/>
          </p:cNvPicPr>
          <p:nvPr/>
        </p:nvPicPr>
        <p:blipFill>
          <a:blip r:embed="rId3"/>
          <a:stretch>
            <a:fillRect/>
          </a:stretch>
        </p:blipFill>
        <p:spPr>
          <a:xfrm>
            <a:off x="1032723" y="2770083"/>
            <a:ext cx="385145" cy="385145"/>
          </a:xfrm>
          <a:prstGeom prst="rect">
            <a:avLst/>
          </a:prstGeom>
        </p:spPr>
      </p:pic>
      <p:sp>
        <p:nvSpPr>
          <p:cNvPr id="10" name="Text 7"/>
          <p:cNvSpPr txBox="1"/>
          <p:nvPr/>
        </p:nvSpPr>
        <p:spPr>
          <a:xfrm>
            <a:off x="868680" y="3566160"/>
            <a:ext cx="2844698" cy="457200"/>
          </a:xfrm>
          <a:prstGeom prst="rect">
            <a:avLst/>
          </a:prstGeom>
          <a:noFill/>
          <a:ln/>
        </p:spPr>
        <p:txBody>
          <a:bodyPr wrap="square" lIns="0" tIns="0" rIns="0" bIns="0" rtlCol="0" anchor="ctr"/>
          <a:lstStyle/>
          <a:p>
            <a:pPr marL="0" indent="0">
              <a:buNone/>
            </a:pPr>
            <a:r>
              <a:rPr lang="en-US" sz="2100" dirty="0">
                <a:solidFill>
                  <a:srgbClr val="172033"/>
                </a:solidFill>
                <a:latin typeface="Bahnschrift SemiBold" pitchFamily="34" charset="0"/>
                <a:ea typeface="Bahnschrift SemiBold" pitchFamily="34" charset="-122"/>
                <a:cs typeface="Bahnschrift SemiBold" pitchFamily="34" charset="-120"/>
              </a:rPr>
              <a:t>Time lost in line</a:t>
            </a:r>
            <a:endParaRPr lang="en-US" sz="2100" dirty="0"/>
          </a:p>
        </p:txBody>
      </p:sp>
      <p:sp>
        <p:nvSpPr>
          <p:cNvPr id="11" name="Text 8"/>
          <p:cNvSpPr txBox="1"/>
          <p:nvPr/>
        </p:nvSpPr>
        <p:spPr>
          <a:xfrm>
            <a:off x="868680" y="4069080"/>
            <a:ext cx="2844698" cy="1188720"/>
          </a:xfrm>
          <a:prstGeom prst="rect">
            <a:avLst/>
          </a:prstGeom>
          <a:noFill/>
          <a:ln/>
        </p:spPr>
        <p:txBody>
          <a:bodyPr wrap="square" lIns="0" tIns="0" rIns="0" bIns="0" rtlCol="0" anchor="t"/>
          <a:lstStyle/>
          <a:p>
            <a:pPr marL="0" indent="0">
              <a:lnSpc>
                <a:spcPct val="110000"/>
              </a:lnSpc>
              <a:buNone/>
            </a:pPr>
            <a:r>
              <a:rPr lang="en-US" sz="1500" dirty="0">
                <a:solidFill>
                  <a:srgbClr val="3D4759"/>
                </a:solidFill>
                <a:latin typeface="Calibri" pitchFamily="34" charset="0"/>
                <a:ea typeface="Calibri" pitchFamily="34" charset="-122"/>
                <a:cs typeface="Calibri" pitchFamily="34" charset="-120"/>
              </a:rPr>
              <a:t>Students wait at the counter for their turn, often during class hours, with no way to step away without losing their place.</a:t>
            </a:r>
            <a:endParaRPr lang="en-US" sz="1500" dirty="0"/>
          </a:p>
        </p:txBody>
      </p:sp>
      <p:sp>
        <p:nvSpPr>
          <p:cNvPr id="12" name="Shape 9"/>
          <p:cNvSpPr/>
          <p:nvPr/>
        </p:nvSpPr>
        <p:spPr>
          <a:xfrm>
            <a:off x="4353458" y="2286000"/>
            <a:ext cx="3484778" cy="3063240"/>
          </a:xfrm>
          <a:prstGeom prst="roundRect">
            <a:avLst>
              <a:gd name="adj" fmla="val 3582"/>
            </a:avLst>
          </a:prstGeom>
          <a:solidFill>
            <a:srgbClr val="F3F5F8"/>
          </a:solidFill>
          <a:ln w="12700">
            <a:solidFill>
              <a:srgbClr val="F3F5F8"/>
            </a:solidFill>
            <a:prstDash val="solid"/>
          </a:ln>
        </p:spPr>
      </p:sp>
      <p:sp>
        <p:nvSpPr>
          <p:cNvPr id="13" name="Shape 10"/>
          <p:cNvSpPr/>
          <p:nvPr/>
        </p:nvSpPr>
        <p:spPr>
          <a:xfrm>
            <a:off x="4673498" y="2606040"/>
            <a:ext cx="713232" cy="713232"/>
          </a:xfrm>
          <a:prstGeom prst="ellipse">
            <a:avLst/>
          </a:prstGeom>
          <a:solidFill>
            <a:srgbClr val="F4B400"/>
          </a:solidFill>
          <a:ln w="12700">
            <a:solidFill>
              <a:srgbClr val="F4B400"/>
            </a:solidFill>
            <a:prstDash val="solid"/>
          </a:ln>
        </p:spPr>
      </p:sp>
      <p:pic>
        <p:nvPicPr>
          <p:cNvPr id="14" name="Image 1" descr="preencoded.png"/>
          <p:cNvPicPr>
            <a:picLocks noChangeAspect="1"/>
          </p:cNvPicPr>
          <p:nvPr/>
        </p:nvPicPr>
        <p:blipFill>
          <a:blip r:embed="rId4"/>
          <a:stretch>
            <a:fillRect/>
          </a:stretch>
        </p:blipFill>
        <p:spPr>
          <a:xfrm>
            <a:off x="4837542" y="2770083"/>
            <a:ext cx="385145" cy="385145"/>
          </a:xfrm>
          <a:prstGeom prst="rect">
            <a:avLst/>
          </a:prstGeom>
        </p:spPr>
      </p:pic>
      <p:sp>
        <p:nvSpPr>
          <p:cNvPr id="15" name="Text 11"/>
          <p:cNvSpPr txBox="1"/>
          <p:nvPr/>
        </p:nvSpPr>
        <p:spPr>
          <a:xfrm>
            <a:off x="4673498" y="3566160"/>
            <a:ext cx="2844698" cy="457200"/>
          </a:xfrm>
          <a:prstGeom prst="rect">
            <a:avLst/>
          </a:prstGeom>
          <a:noFill/>
          <a:ln/>
        </p:spPr>
        <p:txBody>
          <a:bodyPr wrap="square" lIns="0" tIns="0" rIns="0" bIns="0" rtlCol="0" anchor="ctr"/>
          <a:lstStyle/>
          <a:p>
            <a:pPr marL="0" indent="0">
              <a:buNone/>
            </a:pPr>
            <a:r>
              <a:rPr lang="en-US" sz="2100" dirty="0">
                <a:solidFill>
                  <a:srgbClr val="172033"/>
                </a:solidFill>
                <a:latin typeface="Bahnschrift SemiBold" pitchFamily="34" charset="0"/>
                <a:ea typeface="Bahnschrift SemiBold" pitchFamily="34" charset="-122"/>
                <a:cs typeface="Bahnschrift SemiBold" pitchFamily="34" charset="-120"/>
              </a:rPr>
              <a:t>No visibility</a:t>
            </a:r>
            <a:endParaRPr lang="en-US" sz="2100" dirty="0"/>
          </a:p>
        </p:txBody>
      </p:sp>
      <p:sp>
        <p:nvSpPr>
          <p:cNvPr id="16" name="Text 12"/>
          <p:cNvSpPr txBox="1"/>
          <p:nvPr/>
        </p:nvSpPr>
        <p:spPr>
          <a:xfrm>
            <a:off x="4673498" y="4069080"/>
            <a:ext cx="2844698" cy="1188720"/>
          </a:xfrm>
          <a:prstGeom prst="rect">
            <a:avLst/>
          </a:prstGeom>
          <a:noFill/>
          <a:ln/>
        </p:spPr>
        <p:txBody>
          <a:bodyPr wrap="square" lIns="0" tIns="0" rIns="0" bIns="0" rtlCol="0" anchor="t"/>
          <a:lstStyle/>
          <a:p>
            <a:pPr marL="0" indent="0">
              <a:lnSpc>
                <a:spcPct val="110000"/>
              </a:lnSpc>
              <a:buNone/>
            </a:pPr>
            <a:r>
              <a:rPr lang="en-US" sz="1500" dirty="0">
                <a:solidFill>
                  <a:srgbClr val="3D4759"/>
                </a:solidFill>
                <a:latin typeface="Calibri" pitchFamily="34" charset="0"/>
                <a:ea typeface="Calibri" pitchFamily="34" charset="-122"/>
                <a:cs typeface="Calibri" pitchFamily="34" charset="-120"/>
              </a:rPr>
              <a:t>Nobody knows how many people are ahead or how long it will take, so everyone stays and crowds the counter.</a:t>
            </a:r>
            <a:endParaRPr lang="en-US" sz="1500" dirty="0"/>
          </a:p>
        </p:txBody>
      </p:sp>
      <p:sp>
        <p:nvSpPr>
          <p:cNvPr id="17" name="Shape 13"/>
          <p:cNvSpPr/>
          <p:nvPr/>
        </p:nvSpPr>
        <p:spPr>
          <a:xfrm>
            <a:off x="8158277" y="2286000"/>
            <a:ext cx="3484778" cy="3063240"/>
          </a:xfrm>
          <a:prstGeom prst="roundRect">
            <a:avLst>
              <a:gd name="adj" fmla="val 3582"/>
            </a:avLst>
          </a:prstGeom>
          <a:solidFill>
            <a:srgbClr val="F3F5F8"/>
          </a:solidFill>
          <a:ln w="12700">
            <a:solidFill>
              <a:srgbClr val="F3F5F8"/>
            </a:solidFill>
            <a:prstDash val="solid"/>
          </a:ln>
        </p:spPr>
      </p:sp>
      <p:sp>
        <p:nvSpPr>
          <p:cNvPr id="18" name="Shape 14"/>
          <p:cNvSpPr/>
          <p:nvPr/>
        </p:nvSpPr>
        <p:spPr>
          <a:xfrm>
            <a:off x="8478317" y="2606040"/>
            <a:ext cx="713232" cy="713232"/>
          </a:xfrm>
          <a:prstGeom prst="ellipse">
            <a:avLst/>
          </a:prstGeom>
          <a:solidFill>
            <a:srgbClr val="F4B400"/>
          </a:solidFill>
          <a:ln w="12700">
            <a:solidFill>
              <a:srgbClr val="F4B400"/>
            </a:solidFill>
            <a:prstDash val="solid"/>
          </a:ln>
        </p:spPr>
      </p:sp>
      <p:pic>
        <p:nvPicPr>
          <p:cNvPr id="19" name="Image 2" descr="preencoded.png"/>
          <p:cNvPicPr>
            <a:picLocks noChangeAspect="1"/>
          </p:cNvPicPr>
          <p:nvPr/>
        </p:nvPicPr>
        <p:blipFill>
          <a:blip r:embed="rId5"/>
          <a:stretch>
            <a:fillRect/>
          </a:stretch>
        </p:blipFill>
        <p:spPr>
          <a:xfrm>
            <a:off x="8642360" y="2770083"/>
            <a:ext cx="385145" cy="385145"/>
          </a:xfrm>
          <a:prstGeom prst="rect">
            <a:avLst/>
          </a:prstGeom>
        </p:spPr>
      </p:pic>
      <p:sp>
        <p:nvSpPr>
          <p:cNvPr id="20" name="Text 15"/>
          <p:cNvSpPr txBox="1"/>
          <p:nvPr/>
        </p:nvSpPr>
        <p:spPr>
          <a:xfrm>
            <a:off x="8478317" y="3566160"/>
            <a:ext cx="2844698" cy="457200"/>
          </a:xfrm>
          <a:prstGeom prst="rect">
            <a:avLst/>
          </a:prstGeom>
          <a:noFill/>
          <a:ln/>
        </p:spPr>
        <p:txBody>
          <a:bodyPr wrap="square" lIns="0" tIns="0" rIns="0" bIns="0" rtlCol="0" anchor="ctr"/>
          <a:lstStyle/>
          <a:p>
            <a:pPr marL="0" indent="0">
              <a:buNone/>
            </a:pPr>
            <a:r>
              <a:rPr lang="en-US" sz="2100" dirty="0">
                <a:solidFill>
                  <a:srgbClr val="172033"/>
                </a:solidFill>
                <a:latin typeface="Bahnschrift SemiBold" pitchFamily="34" charset="0"/>
                <a:ea typeface="Bahnschrift SemiBold" pitchFamily="34" charset="-122"/>
                <a:cs typeface="Bahnschrift SemiBold" pitchFamily="34" charset="-120"/>
              </a:rPr>
              <a:t>Stress for staff</a:t>
            </a:r>
            <a:endParaRPr lang="en-US" sz="2100" dirty="0"/>
          </a:p>
        </p:txBody>
      </p:sp>
      <p:sp>
        <p:nvSpPr>
          <p:cNvPr id="21" name="Text 16"/>
          <p:cNvSpPr txBox="1"/>
          <p:nvPr/>
        </p:nvSpPr>
        <p:spPr>
          <a:xfrm>
            <a:off x="8478317" y="4069080"/>
            <a:ext cx="2844698" cy="1188720"/>
          </a:xfrm>
          <a:prstGeom prst="rect">
            <a:avLst/>
          </a:prstGeom>
          <a:noFill/>
          <a:ln/>
        </p:spPr>
        <p:txBody>
          <a:bodyPr wrap="square" lIns="0" tIns="0" rIns="0" bIns="0" rtlCol="0" anchor="t"/>
          <a:lstStyle/>
          <a:p>
            <a:pPr marL="0" indent="0">
              <a:lnSpc>
                <a:spcPct val="110000"/>
              </a:lnSpc>
              <a:buNone/>
            </a:pPr>
            <a:r>
              <a:rPr lang="en-US" sz="1500" dirty="0">
                <a:solidFill>
                  <a:srgbClr val="3D4759"/>
                </a:solidFill>
                <a:latin typeface="Calibri" pitchFamily="34" charset="0"/>
                <a:ea typeface="Calibri" pitchFamily="34" charset="-122"/>
                <a:cs typeface="Calibri" pitchFamily="34" charset="-120"/>
              </a:rPr>
              <a:t>Staff manage the crowd by calling out names, settle “who’s next” disputes, and have no data on busy hours.</a:t>
            </a:r>
            <a:endParaRPr lang="en-US" sz="1500" dirty="0"/>
          </a:p>
        </p:txBody>
      </p:sp>
      <p:sp>
        <p:nvSpPr>
          <p:cNvPr id="22" name="Shape 17"/>
          <p:cNvSpPr/>
          <p:nvPr/>
        </p:nvSpPr>
        <p:spPr>
          <a:xfrm>
            <a:off x="548640" y="5623560"/>
            <a:ext cx="11094415" cy="713232"/>
          </a:xfrm>
          <a:prstGeom prst="roundRect">
            <a:avLst>
              <a:gd name="adj" fmla="val 12821"/>
            </a:avLst>
          </a:prstGeom>
          <a:solidFill>
            <a:srgbClr val="FFF4CF"/>
          </a:solidFill>
          <a:ln w="12700">
            <a:solidFill>
              <a:srgbClr val="FFF4CF"/>
            </a:solidFill>
            <a:prstDash val="solid"/>
          </a:ln>
        </p:spPr>
      </p:sp>
      <p:sp>
        <p:nvSpPr>
          <p:cNvPr id="23" name="Text 18"/>
          <p:cNvSpPr txBox="1"/>
          <p:nvPr/>
        </p:nvSpPr>
        <p:spPr>
          <a:xfrm>
            <a:off x="822960" y="5623560"/>
            <a:ext cx="10515600" cy="713232"/>
          </a:xfrm>
          <a:prstGeom prst="rect">
            <a:avLst/>
          </a:prstGeom>
          <a:noFill/>
          <a:ln/>
        </p:spPr>
        <p:txBody>
          <a:bodyPr wrap="square" lIns="0" tIns="0" rIns="0" bIns="0" rtlCol="0" anchor="ctr"/>
          <a:lstStyle/>
          <a:p>
            <a:pPr marL="0" indent="0">
              <a:buNone/>
            </a:pPr>
            <a:r>
              <a:rPr lang="en-US" sz="1700" b="1" i="1" dirty="0">
                <a:solidFill>
                  <a:srgbClr val="172033"/>
                </a:solidFill>
                <a:latin typeface="Calibri" pitchFamily="34" charset="0"/>
                <a:ea typeface="Calibri" pitchFamily="34" charset="-122"/>
                <a:cs typeface="Calibri" pitchFamily="34" charset="-120"/>
              </a:rPr>
              <a:t>“How long will this take?”</a:t>
            </a:r>
            <a:r>
              <a:rPr lang="en-US" sz="1700" i="1" dirty="0">
                <a:solidFill>
                  <a:srgbClr val="172033"/>
                </a:solidFill>
                <a:latin typeface="Calibri" pitchFamily="34" charset="0"/>
                <a:ea typeface="Calibri" pitchFamily="34" charset="-122"/>
                <a:cs typeface="Calibri" pitchFamily="34" charset="-120"/>
              </a:rPr>
              <a:t>  — the one question every campus counter keeps hearing.</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749808" cy="347472"/>
          </a:xfrm>
          <a:prstGeom prst="roundRect">
            <a:avLst>
              <a:gd name="adj" fmla="val 15789"/>
            </a:avLst>
          </a:prstGeom>
          <a:solidFill>
            <a:srgbClr val="F4B400"/>
          </a:solidFill>
          <a:ln w="12700">
            <a:solidFill>
              <a:srgbClr val="F4B400"/>
            </a:solidFill>
            <a:prstDash val="solid"/>
          </a:ln>
        </p:spPr>
      </p:sp>
      <p:sp>
        <p:nvSpPr>
          <p:cNvPr id="3" name="Text 1"/>
          <p:cNvSpPr txBox="1"/>
          <p:nvPr/>
        </p:nvSpPr>
        <p:spPr>
          <a:xfrm>
            <a:off x="548640" y="411480"/>
            <a:ext cx="749808" cy="347472"/>
          </a:xfrm>
          <a:prstGeom prst="rect">
            <a:avLst/>
          </a:prstGeom>
          <a:noFill/>
          <a:ln/>
        </p:spPr>
        <p:txBody>
          <a:bodyPr wrap="square" lIns="0" tIns="0" rIns="0" bIns="0" rtlCol="0" anchor="ctr"/>
          <a:lstStyle/>
          <a:p>
            <a:pPr marL="0" indent="0" algn="ctr">
              <a:buNone/>
            </a:pPr>
            <a:r>
              <a:rPr lang="en-US" sz="1700" dirty="0">
                <a:solidFill>
                  <a:srgbClr val="172033"/>
                </a:solidFill>
                <a:latin typeface="Bahnschrift SemiBold Condensed" pitchFamily="34" charset="0"/>
                <a:ea typeface="Bahnschrift SemiBold Condensed" pitchFamily="34" charset="-122"/>
                <a:cs typeface="Bahnschrift SemiBold Condensed" pitchFamily="34" charset="-120"/>
              </a:rPr>
              <a:t>A003</a:t>
            </a:r>
            <a:endParaRPr lang="en-US" sz="1700" dirty="0"/>
          </a:p>
        </p:txBody>
      </p:sp>
      <p:sp>
        <p:nvSpPr>
          <p:cNvPr id="4" name="Text 2"/>
          <p:cNvSpPr txBox="1"/>
          <p:nvPr/>
        </p:nvSpPr>
        <p:spPr>
          <a:xfrm>
            <a:off x="1444752" y="411480"/>
            <a:ext cx="5486400" cy="347472"/>
          </a:xfrm>
          <a:prstGeom prst="rect">
            <a:avLst/>
          </a:prstGeom>
          <a:noFill/>
          <a:ln/>
        </p:spPr>
        <p:txBody>
          <a:bodyPr wrap="square" lIns="0" tIns="0" rIns="0" bIns="0" rtlCol="0" anchor="ctr"/>
          <a:lstStyle/>
          <a:p>
            <a:pPr marL="0" indent="0">
              <a:buNone/>
            </a:pPr>
            <a:r>
              <a:rPr lang="en-US" sz="1200" b="1" kern="0" spc="300" dirty="0">
                <a:solidFill>
                  <a:srgbClr val="5A6478"/>
                </a:solidFill>
                <a:latin typeface="Calibri" pitchFamily="34" charset="0"/>
                <a:ea typeface="Calibri" pitchFamily="34" charset="-122"/>
                <a:cs typeface="Calibri" pitchFamily="34" charset="-120"/>
              </a:rPr>
              <a:t>OUR SOLUTION</a:t>
            </a:r>
            <a:endParaRPr lang="en-US" sz="1200" dirty="0"/>
          </a:p>
        </p:txBody>
      </p:sp>
      <p:sp>
        <p:nvSpPr>
          <p:cNvPr id="5" name="Text 3"/>
          <p:cNvSpPr txBox="1"/>
          <p:nvPr/>
        </p:nvSpPr>
        <p:spPr>
          <a:xfrm>
            <a:off x="548640" y="896112"/>
            <a:ext cx="11064240" cy="731520"/>
          </a:xfrm>
          <a:prstGeom prst="rect">
            <a:avLst/>
          </a:prstGeom>
          <a:noFill/>
          <a:ln/>
        </p:spPr>
        <p:txBody>
          <a:bodyPr wrap="square" lIns="0" tIns="0" rIns="0" bIns="0" rtlCol="0" anchor="t"/>
          <a:lstStyle/>
          <a:p>
            <a:pPr marL="0" indent="0">
              <a:buNone/>
            </a:pPr>
            <a:r>
              <a:rPr lang="en-US" sz="3400" dirty="0">
                <a:solidFill>
                  <a:srgbClr val="172033"/>
                </a:solidFill>
                <a:latin typeface="Bahnschrift SemiBold" pitchFamily="34" charset="0"/>
                <a:ea typeface="Bahnschrift SemiBold" pitchFamily="34" charset="-122"/>
                <a:cs typeface="Bahnschrift SemiBold" pitchFamily="34" charset="-120"/>
              </a:rPr>
              <a:t>CampusQ: take a token, not a place in line</a:t>
            </a:r>
            <a:endParaRPr lang="en-US" sz="3400" dirty="0"/>
          </a:p>
        </p:txBody>
      </p:sp>
      <p:sp>
        <p:nvSpPr>
          <p:cNvPr id="6" name="Shape 4"/>
          <p:cNvSpPr/>
          <p:nvPr/>
        </p:nvSpPr>
        <p:spPr>
          <a:xfrm>
            <a:off x="548640" y="1828800"/>
            <a:ext cx="475488" cy="475488"/>
          </a:xfrm>
          <a:prstGeom prst="ellipse">
            <a:avLst/>
          </a:prstGeom>
          <a:solidFill>
            <a:srgbClr val="172033"/>
          </a:solidFill>
          <a:ln w="12700">
            <a:solidFill>
              <a:srgbClr val="172033"/>
            </a:solidFill>
            <a:prstDash val="solid"/>
          </a:ln>
        </p:spPr>
      </p:sp>
      <p:sp>
        <p:nvSpPr>
          <p:cNvPr id="7" name="Text 5"/>
          <p:cNvSpPr txBox="1"/>
          <p:nvPr/>
        </p:nvSpPr>
        <p:spPr>
          <a:xfrm>
            <a:off x="548640" y="1828800"/>
            <a:ext cx="475488" cy="475488"/>
          </a:xfrm>
          <a:prstGeom prst="rect">
            <a:avLst/>
          </a:prstGeom>
          <a:noFill/>
          <a:ln/>
        </p:spPr>
        <p:txBody>
          <a:bodyPr wrap="square" lIns="0" tIns="0" rIns="0" bIns="0" rtlCol="0" anchor="ctr"/>
          <a:lstStyle/>
          <a:p>
            <a:pPr marL="0" indent="0" algn="ctr">
              <a:buNone/>
            </a:pPr>
            <a:r>
              <a:rPr lang="en-US" sz="2000" dirty="0">
                <a:solidFill>
                  <a:srgbClr val="FFFFFF"/>
                </a:solidFill>
                <a:latin typeface="Bahnschrift SemiBold Condensed" pitchFamily="34" charset="0"/>
                <a:ea typeface="Bahnschrift SemiBold Condensed" pitchFamily="34" charset="-122"/>
                <a:cs typeface="Bahnschrift SemiBold Condensed" pitchFamily="34" charset="-120"/>
              </a:rPr>
              <a:t>1</a:t>
            </a:r>
            <a:endParaRPr lang="en-US" sz="2000" dirty="0"/>
          </a:p>
        </p:txBody>
      </p:sp>
      <p:sp>
        <p:nvSpPr>
          <p:cNvPr id="8" name="Text 6"/>
          <p:cNvSpPr txBox="1"/>
          <p:nvPr/>
        </p:nvSpPr>
        <p:spPr>
          <a:xfrm>
            <a:off x="1234440" y="1792224"/>
            <a:ext cx="3566160" cy="310896"/>
          </a:xfrm>
          <a:prstGeom prst="rect">
            <a:avLst/>
          </a:prstGeom>
          <a:noFill/>
          <a:ln/>
        </p:spPr>
        <p:txBody>
          <a:bodyPr wrap="square" lIns="0" tIns="0" rIns="0" bIns="0" rtlCol="0" anchor="ctr"/>
          <a:lstStyle/>
          <a:p>
            <a:pPr marL="0" indent="0">
              <a:buNone/>
            </a:pPr>
            <a:r>
              <a:rPr lang="en-US" sz="1700" b="1" dirty="0">
                <a:solidFill>
                  <a:srgbClr val="172033"/>
                </a:solidFill>
                <a:latin typeface="Calibri" pitchFamily="34" charset="0"/>
                <a:ea typeface="Calibri" pitchFamily="34" charset="-122"/>
                <a:cs typeface="Calibri" pitchFamily="34" charset="-120"/>
              </a:rPr>
              <a:t>Pick a counter</a:t>
            </a:r>
            <a:endParaRPr lang="en-US" sz="1700" dirty="0"/>
          </a:p>
        </p:txBody>
      </p:sp>
      <p:sp>
        <p:nvSpPr>
          <p:cNvPr id="9" name="Text 7"/>
          <p:cNvSpPr txBox="1"/>
          <p:nvPr/>
        </p:nvSpPr>
        <p:spPr>
          <a:xfrm>
            <a:off x="1234440" y="2103120"/>
            <a:ext cx="3566160" cy="457200"/>
          </a:xfrm>
          <a:prstGeom prst="rect">
            <a:avLst/>
          </a:prstGeom>
          <a:noFill/>
          <a:ln/>
        </p:spPr>
        <p:txBody>
          <a:bodyPr wrap="square" lIns="0" tIns="0" rIns="0" bIns="0" rtlCol="0" anchor="t"/>
          <a:lstStyle/>
          <a:p>
            <a:pPr marL="0" indent="0">
              <a:buNone/>
            </a:pPr>
            <a:r>
              <a:rPr lang="en-US" sz="1350" dirty="0">
                <a:solidFill>
                  <a:srgbClr val="5A6478"/>
                </a:solidFill>
                <a:latin typeface="Calibri" pitchFamily="34" charset="0"/>
                <a:ea typeface="Calibri" pitchFamily="34" charset="-122"/>
                <a:cs typeface="Calibri" pitchFamily="34" charset="-120"/>
              </a:rPr>
              <a:t>Every service with its live queue and estimated wait.</a:t>
            </a:r>
            <a:endParaRPr lang="en-US" sz="1350" dirty="0"/>
          </a:p>
        </p:txBody>
      </p:sp>
      <p:sp>
        <p:nvSpPr>
          <p:cNvPr id="10" name="Shape 8"/>
          <p:cNvSpPr/>
          <p:nvPr/>
        </p:nvSpPr>
        <p:spPr>
          <a:xfrm>
            <a:off x="548640" y="2697480"/>
            <a:ext cx="475488" cy="475488"/>
          </a:xfrm>
          <a:prstGeom prst="ellipse">
            <a:avLst/>
          </a:prstGeom>
          <a:solidFill>
            <a:srgbClr val="172033"/>
          </a:solidFill>
          <a:ln w="12700">
            <a:solidFill>
              <a:srgbClr val="172033"/>
            </a:solidFill>
            <a:prstDash val="solid"/>
          </a:ln>
        </p:spPr>
      </p:sp>
      <p:sp>
        <p:nvSpPr>
          <p:cNvPr id="11" name="Text 9"/>
          <p:cNvSpPr txBox="1"/>
          <p:nvPr/>
        </p:nvSpPr>
        <p:spPr>
          <a:xfrm>
            <a:off x="548640" y="2697480"/>
            <a:ext cx="475488" cy="475488"/>
          </a:xfrm>
          <a:prstGeom prst="rect">
            <a:avLst/>
          </a:prstGeom>
          <a:noFill/>
          <a:ln/>
        </p:spPr>
        <p:txBody>
          <a:bodyPr wrap="square" lIns="0" tIns="0" rIns="0" bIns="0" rtlCol="0" anchor="ctr"/>
          <a:lstStyle/>
          <a:p>
            <a:pPr marL="0" indent="0" algn="ctr">
              <a:buNone/>
            </a:pPr>
            <a:r>
              <a:rPr lang="en-US" sz="2000" dirty="0">
                <a:solidFill>
                  <a:srgbClr val="FFFFFF"/>
                </a:solidFill>
                <a:latin typeface="Bahnschrift SemiBold Condensed" pitchFamily="34" charset="0"/>
                <a:ea typeface="Bahnschrift SemiBold Condensed" pitchFamily="34" charset="-122"/>
                <a:cs typeface="Bahnschrift SemiBold Condensed" pitchFamily="34" charset="-120"/>
              </a:rPr>
              <a:t>2</a:t>
            </a:r>
            <a:endParaRPr lang="en-US" sz="2000" dirty="0"/>
          </a:p>
        </p:txBody>
      </p:sp>
      <p:sp>
        <p:nvSpPr>
          <p:cNvPr id="12" name="Text 10"/>
          <p:cNvSpPr txBox="1"/>
          <p:nvPr/>
        </p:nvSpPr>
        <p:spPr>
          <a:xfrm>
            <a:off x="1234440" y="2660904"/>
            <a:ext cx="3566160" cy="310896"/>
          </a:xfrm>
          <a:prstGeom prst="rect">
            <a:avLst/>
          </a:prstGeom>
          <a:noFill/>
          <a:ln/>
        </p:spPr>
        <p:txBody>
          <a:bodyPr wrap="square" lIns="0" tIns="0" rIns="0" bIns="0" rtlCol="0" anchor="ctr"/>
          <a:lstStyle/>
          <a:p>
            <a:pPr marL="0" indent="0">
              <a:buNone/>
            </a:pPr>
            <a:r>
              <a:rPr lang="en-US" sz="1700" b="1" dirty="0">
                <a:solidFill>
                  <a:srgbClr val="172033"/>
                </a:solidFill>
                <a:latin typeface="Calibri" pitchFamily="34" charset="0"/>
                <a:ea typeface="Calibri" pitchFamily="34" charset="-122"/>
                <a:cs typeface="Calibri" pitchFamily="34" charset="-120"/>
              </a:rPr>
              <a:t>Join and get a token</a:t>
            </a:r>
            <a:endParaRPr lang="en-US" sz="1700" dirty="0"/>
          </a:p>
        </p:txBody>
      </p:sp>
      <p:sp>
        <p:nvSpPr>
          <p:cNvPr id="13" name="Text 11"/>
          <p:cNvSpPr txBox="1"/>
          <p:nvPr/>
        </p:nvSpPr>
        <p:spPr>
          <a:xfrm>
            <a:off x="1234440" y="2971800"/>
            <a:ext cx="3566160" cy="457200"/>
          </a:xfrm>
          <a:prstGeom prst="rect">
            <a:avLst/>
          </a:prstGeom>
          <a:noFill/>
          <a:ln/>
        </p:spPr>
        <p:txBody>
          <a:bodyPr wrap="square" lIns="0" tIns="0" rIns="0" bIns="0" rtlCol="0" anchor="t"/>
          <a:lstStyle/>
          <a:p>
            <a:pPr marL="0" indent="0">
              <a:buNone/>
            </a:pPr>
            <a:r>
              <a:rPr lang="en-US" sz="1350" dirty="0">
                <a:solidFill>
                  <a:srgbClr val="5A6478"/>
                </a:solidFill>
                <a:latin typeface="Calibri" pitchFamily="34" charset="0"/>
                <a:ea typeface="Calibri" pitchFamily="34" charset="-122"/>
                <a:cs typeface="Calibri" pitchFamily="34" charset="-120"/>
              </a:rPr>
              <a:t>A sequential token like A024, issued instantly.</a:t>
            </a:r>
            <a:endParaRPr lang="en-US" sz="1350" dirty="0"/>
          </a:p>
        </p:txBody>
      </p:sp>
      <p:sp>
        <p:nvSpPr>
          <p:cNvPr id="14" name="Shape 12"/>
          <p:cNvSpPr/>
          <p:nvPr/>
        </p:nvSpPr>
        <p:spPr>
          <a:xfrm>
            <a:off x="548640" y="3566160"/>
            <a:ext cx="475488" cy="475488"/>
          </a:xfrm>
          <a:prstGeom prst="ellipse">
            <a:avLst/>
          </a:prstGeom>
          <a:solidFill>
            <a:srgbClr val="172033"/>
          </a:solidFill>
          <a:ln w="12700">
            <a:solidFill>
              <a:srgbClr val="172033"/>
            </a:solidFill>
            <a:prstDash val="solid"/>
          </a:ln>
        </p:spPr>
      </p:sp>
      <p:sp>
        <p:nvSpPr>
          <p:cNvPr id="15" name="Text 13"/>
          <p:cNvSpPr txBox="1"/>
          <p:nvPr/>
        </p:nvSpPr>
        <p:spPr>
          <a:xfrm>
            <a:off x="548640" y="3566160"/>
            <a:ext cx="475488" cy="475488"/>
          </a:xfrm>
          <a:prstGeom prst="rect">
            <a:avLst/>
          </a:prstGeom>
          <a:noFill/>
          <a:ln/>
        </p:spPr>
        <p:txBody>
          <a:bodyPr wrap="square" lIns="0" tIns="0" rIns="0" bIns="0" rtlCol="0" anchor="ctr"/>
          <a:lstStyle/>
          <a:p>
            <a:pPr marL="0" indent="0" algn="ctr">
              <a:buNone/>
            </a:pPr>
            <a:r>
              <a:rPr lang="en-US" sz="2000" dirty="0">
                <a:solidFill>
                  <a:srgbClr val="FFFFFF"/>
                </a:solidFill>
                <a:latin typeface="Bahnschrift SemiBold Condensed" pitchFamily="34" charset="0"/>
                <a:ea typeface="Bahnschrift SemiBold Condensed" pitchFamily="34" charset="-122"/>
                <a:cs typeface="Bahnschrift SemiBold Condensed" pitchFamily="34" charset="-120"/>
              </a:rPr>
              <a:t>3</a:t>
            </a:r>
            <a:endParaRPr lang="en-US" sz="2000" dirty="0"/>
          </a:p>
        </p:txBody>
      </p:sp>
      <p:sp>
        <p:nvSpPr>
          <p:cNvPr id="16" name="Text 14"/>
          <p:cNvSpPr txBox="1"/>
          <p:nvPr/>
        </p:nvSpPr>
        <p:spPr>
          <a:xfrm>
            <a:off x="1234440" y="3529584"/>
            <a:ext cx="3566160" cy="310896"/>
          </a:xfrm>
          <a:prstGeom prst="rect">
            <a:avLst/>
          </a:prstGeom>
          <a:noFill/>
          <a:ln/>
        </p:spPr>
        <p:txBody>
          <a:bodyPr wrap="square" lIns="0" tIns="0" rIns="0" bIns="0" rtlCol="0" anchor="ctr"/>
          <a:lstStyle/>
          <a:p>
            <a:pPr marL="0" indent="0">
              <a:buNone/>
            </a:pPr>
            <a:r>
              <a:rPr lang="en-US" sz="1700" b="1" dirty="0">
                <a:solidFill>
                  <a:srgbClr val="172033"/>
                </a:solidFill>
                <a:latin typeface="Calibri" pitchFamily="34" charset="0"/>
                <a:ea typeface="Calibri" pitchFamily="34" charset="-122"/>
                <a:cs typeface="Calibri" pitchFamily="34" charset="-120"/>
              </a:rPr>
              <a:t>Track it live</a:t>
            </a:r>
            <a:endParaRPr lang="en-US" sz="1700" dirty="0"/>
          </a:p>
        </p:txBody>
      </p:sp>
      <p:sp>
        <p:nvSpPr>
          <p:cNvPr id="17" name="Text 15"/>
          <p:cNvSpPr txBox="1"/>
          <p:nvPr/>
        </p:nvSpPr>
        <p:spPr>
          <a:xfrm>
            <a:off x="1234440" y="3840480"/>
            <a:ext cx="3566160" cy="457200"/>
          </a:xfrm>
          <a:prstGeom prst="rect">
            <a:avLst/>
          </a:prstGeom>
          <a:noFill/>
          <a:ln/>
        </p:spPr>
        <p:txBody>
          <a:bodyPr wrap="square" lIns="0" tIns="0" rIns="0" bIns="0" rtlCol="0" anchor="t"/>
          <a:lstStyle/>
          <a:p>
            <a:pPr marL="0" indent="0">
              <a:buNone/>
            </a:pPr>
            <a:r>
              <a:rPr lang="en-US" sz="1350" dirty="0">
                <a:solidFill>
                  <a:srgbClr val="5A6478"/>
                </a:solidFill>
                <a:latin typeface="Calibri" pitchFamily="34" charset="0"/>
                <a:ea typeface="Calibri" pitchFamily="34" charset="-122"/>
                <a:cs typeface="Calibri" pitchFamily="34" charset="-120"/>
              </a:rPr>
              <a:t>Position and wait update in real time. No refresh.</a:t>
            </a:r>
            <a:endParaRPr lang="en-US" sz="1350" dirty="0"/>
          </a:p>
        </p:txBody>
      </p:sp>
      <p:sp>
        <p:nvSpPr>
          <p:cNvPr id="18" name="Shape 16"/>
          <p:cNvSpPr/>
          <p:nvPr/>
        </p:nvSpPr>
        <p:spPr>
          <a:xfrm>
            <a:off x="548640" y="4434840"/>
            <a:ext cx="475488" cy="475488"/>
          </a:xfrm>
          <a:prstGeom prst="ellipse">
            <a:avLst/>
          </a:prstGeom>
          <a:solidFill>
            <a:srgbClr val="172033"/>
          </a:solidFill>
          <a:ln w="12700">
            <a:solidFill>
              <a:srgbClr val="172033"/>
            </a:solidFill>
            <a:prstDash val="solid"/>
          </a:ln>
        </p:spPr>
      </p:sp>
      <p:sp>
        <p:nvSpPr>
          <p:cNvPr id="19" name="Text 17"/>
          <p:cNvSpPr txBox="1"/>
          <p:nvPr/>
        </p:nvSpPr>
        <p:spPr>
          <a:xfrm>
            <a:off x="548640" y="4434840"/>
            <a:ext cx="475488" cy="475488"/>
          </a:xfrm>
          <a:prstGeom prst="rect">
            <a:avLst/>
          </a:prstGeom>
          <a:noFill/>
          <a:ln/>
        </p:spPr>
        <p:txBody>
          <a:bodyPr wrap="square" lIns="0" tIns="0" rIns="0" bIns="0" rtlCol="0" anchor="ctr"/>
          <a:lstStyle/>
          <a:p>
            <a:pPr marL="0" indent="0" algn="ctr">
              <a:buNone/>
            </a:pPr>
            <a:r>
              <a:rPr lang="en-US" sz="2000" dirty="0">
                <a:solidFill>
                  <a:srgbClr val="FFFFFF"/>
                </a:solidFill>
                <a:latin typeface="Bahnschrift SemiBold Condensed" pitchFamily="34" charset="0"/>
                <a:ea typeface="Bahnschrift SemiBold Condensed" pitchFamily="34" charset="-122"/>
                <a:cs typeface="Bahnschrift SemiBold Condensed" pitchFamily="34" charset="-120"/>
              </a:rPr>
              <a:t>4</a:t>
            </a:r>
            <a:endParaRPr lang="en-US" sz="2000" dirty="0"/>
          </a:p>
        </p:txBody>
      </p:sp>
      <p:sp>
        <p:nvSpPr>
          <p:cNvPr id="20" name="Text 18"/>
          <p:cNvSpPr txBox="1"/>
          <p:nvPr/>
        </p:nvSpPr>
        <p:spPr>
          <a:xfrm>
            <a:off x="1234440" y="4398264"/>
            <a:ext cx="3566160" cy="310896"/>
          </a:xfrm>
          <a:prstGeom prst="rect">
            <a:avLst/>
          </a:prstGeom>
          <a:noFill/>
          <a:ln/>
        </p:spPr>
        <p:txBody>
          <a:bodyPr wrap="square" lIns="0" tIns="0" rIns="0" bIns="0" rtlCol="0" anchor="ctr"/>
          <a:lstStyle/>
          <a:p>
            <a:pPr marL="0" indent="0">
              <a:buNone/>
            </a:pPr>
            <a:r>
              <a:rPr lang="en-US" sz="1700" b="1" dirty="0">
                <a:solidFill>
                  <a:srgbClr val="172033"/>
                </a:solidFill>
                <a:latin typeface="Calibri" pitchFamily="34" charset="0"/>
                <a:ea typeface="Calibri" pitchFamily="34" charset="-122"/>
                <a:cs typeface="Calibri" pitchFamily="34" charset="-120"/>
              </a:rPr>
              <a:t>Get alerted</a:t>
            </a:r>
            <a:endParaRPr lang="en-US" sz="1700" dirty="0"/>
          </a:p>
        </p:txBody>
      </p:sp>
      <p:sp>
        <p:nvSpPr>
          <p:cNvPr id="21" name="Text 19"/>
          <p:cNvSpPr txBox="1"/>
          <p:nvPr/>
        </p:nvSpPr>
        <p:spPr>
          <a:xfrm>
            <a:off x="1234440" y="4709160"/>
            <a:ext cx="3566160" cy="457200"/>
          </a:xfrm>
          <a:prstGeom prst="rect">
            <a:avLst/>
          </a:prstGeom>
          <a:noFill/>
          <a:ln/>
        </p:spPr>
        <p:txBody>
          <a:bodyPr wrap="square" lIns="0" tIns="0" rIns="0" bIns="0" rtlCol="0" anchor="t"/>
          <a:lstStyle/>
          <a:p>
            <a:pPr marL="0" indent="0">
              <a:buNone/>
            </a:pPr>
            <a:r>
              <a:rPr lang="en-US" sz="1350" dirty="0">
                <a:solidFill>
                  <a:srgbClr val="5A6478"/>
                </a:solidFill>
                <a:latin typeface="Calibri" pitchFamily="34" charset="0"/>
                <a:ea typeface="Calibri" pitchFamily="34" charset="-122"/>
                <a:cs typeface="Calibri" pitchFamily="34" charset="-120"/>
              </a:rPr>
              <a:t>“You’re next”, then “It’s your turn” with a notification.</a:t>
            </a:r>
            <a:endParaRPr lang="en-US" sz="1350" dirty="0"/>
          </a:p>
        </p:txBody>
      </p:sp>
      <p:sp>
        <p:nvSpPr>
          <p:cNvPr id="22" name="Shape 20"/>
          <p:cNvSpPr/>
          <p:nvPr/>
        </p:nvSpPr>
        <p:spPr>
          <a:xfrm>
            <a:off x="548640" y="5303520"/>
            <a:ext cx="475488" cy="475488"/>
          </a:xfrm>
          <a:prstGeom prst="ellipse">
            <a:avLst/>
          </a:prstGeom>
          <a:solidFill>
            <a:srgbClr val="F4B400"/>
          </a:solidFill>
          <a:ln w="12700">
            <a:solidFill>
              <a:srgbClr val="F4B400"/>
            </a:solidFill>
            <a:prstDash val="solid"/>
          </a:ln>
        </p:spPr>
      </p:sp>
      <p:sp>
        <p:nvSpPr>
          <p:cNvPr id="23" name="Text 21"/>
          <p:cNvSpPr txBox="1"/>
          <p:nvPr/>
        </p:nvSpPr>
        <p:spPr>
          <a:xfrm>
            <a:off x="548640" y="5303520"/>
            <a:ext cx="475488" cy="475488"/>
          </a:xfrm>
          <a:prstGeom prst="rect">
            <a:avLst/>
          </a:prstGeom>
          <a:noFill/>
          <a:ln/>
        </p:spPr>
        <p:txBody>
          <a:bodyPr wrap="square" lIns="0" tIns="0" rIns="0" bIns="0" rtlCol="0" anchor="ctr"/>
          <a:lstStyle/>
          <a:p>
            <a:pPr marL="0" indent="0" algn="ctr">
              <a:buNone/>
            </a:pPr>
            <a:r>
              <a:rPr lang="en-US" sz="2000" dirty="0">
                <a:solidFill>
                  <a:srgbClr val="172033"/>
                </a:solidFill>
                <a:latin typeface="Bahnschrift SemiBold Condensed" pitchFamily="34" charset="0"/>
                <a:ea typeface="Bahnschrift SemiBold Condensed" pitchFamily="34" charset="-122"/>
                <a:cs typeface="Bahnschrift SemiBold Condensed" pitchFamily="34" charset="-120"/>
              </a:rPr>
              <a:t>5</a:t>
            </a:r>
            <a:endParaRPr lang="en-US" sz="2000" dirty="0"/>
          </a:p>
        </p:txBody>
      </p:sp>
      <p:sp>
        <p:nvSpPr>
          <p:cNvPr id="24" name="Text 22"/>
          <p:cNvSpPr txBox="1"/>
          <p:nvPr/>
        </p:nvSpPr>
        <p:spPr>
          <a:xfrm>
            <a:off x="1234440" y="5266944"/>
            <a:ext cx="3566160" cy="310896"/>
          </a:xfrm>
          <a:prstGeom prst="rect">
            <a:avLst/>
          </a:prstGeom>
          <a:noFill/>
          <a:ln/>
        </p:spPr>
        <p:txBody>
          <a:bodyPr wrap="square" lIns="0" tIns="0" rIns="0" bIns="0" rtlCol="0" anchor="ctr"/>
          <a:lstStyle/>
          <a:p>
            <a:pPr marL="0" indent="0">
              <a:buNone/>
            </a:pPr>
            <a:r>
              <a:rPr lang="en-US" sz="1700" b="1" dirty="0">
                <a:solidFill>
                  <a:srgbClr val="172033"/>
                </a:solidFill>
                <a:latin typeface="Calibri" pitchFamily="34" charset="0"/>
                <a:ea typeface="Calibri" pitchFamily="34" charset="-122"/>
                <a:cs typeface="Calibri" pitchFamily="34" charset="-120"/>
              </a:rPr>
              <a:t>Walk up and get served</a:t>
            </a:r>
            <a:endParaRPr lang="en-US" sz="1700" dirty="0"/>
          </a:p>
        </p:txBody>
      </p:sp>
      <p:sp>
        <p:nvSpPr>
          <p:cNvPr id="25" name="Text 23"/>
          <p:cNvSpPr txBox="1"/>
          <p:nvPr/>
        </p:nvSpPr>
        <p:spPr>
          <a:xfrm>
            <a:off x="1234440" y="5577840"/>
            <a:ext cx="3566160" cy="457200"/>
          </a:xfrm>
          <a:prstGeom prst="rect">
            <a:avLst/>
          </a:prstGeom>
          <a:noFill/>
          <a:ln/>
        </p:spPr>
        <p:txBody>
          <a:bodyPr wrap="square" lIns="0" tIns="0" rIns="0" bIns="0" rtlCol="0" anchor="t"/>
          <a:lstStyle/>
          <a:p>
            <a:pPr marL="0" indent="0">
              <a:buNone/>
            </a:pPr>
            <a:r>
              <a:rPr lang="en-US" sz="1350" dirty="0">
                <a:solidFill>
                  <a:srgbClr val="5A6478"/>
                </a:solidFill>
                <a:latin typeface="Calibri" pitchFamily="34" charset="0"/>
                <a:ea typeface="Calibri" pitchFamily="34" charset="-122"/>
                <a:cs typeface="Calibri" pitchFamily="34" charset="-120"/>
              </a:rPr>
              <a:t>Staff call the next token with one tap.</a:t>
            </a:r>
            <a:endParaRPr lang="en-US" sz="1350" dirty="0"/>
          </a:p>
        </p:txBody>
      </p:sp>
      <p:sp>
        <p:nvSpPr>
          <p:cNvPr id="26" name="Shape 24"/>
          <p:cNvSpPr/>
          <p:nvPr/>
        </p:nvSpPr>
        <p:spPr>
          <a:xfrm>
            <a:off x="5150815" y="2103120"/>
            <a:ext cx="6492240" cy="3317558"/>
          </a:xfrm>
          <a:prstGeom prst="rect">
            <a:avLst/>
          </a:prstGeom>
          <a:solidFill>
            <a:srgbClr val="FFFFFF"/>
          </a:solidFill>
          <a:ln w="9525">
            <a:solidFill>
              <a:srgbClr val="D5DBE3"/>
            </a:solidFill>
            <a:prstDash val="solid"/>
          </a:ln>
          <a:effectLst>
            <a:outerShdw blurRad="203200" dist="63500" dir="5400000" algn="bl" rotWithShape="0">
              <a:srgbClr val="0B1020">
                <a:alpha val="18000"/>
              </a:srgbClr>
            </a:outerShdw>
          </a:effectLst>
        </p:spPr>
      </p:sp>
      <p:sp>
        <p:nvSpPr>
          <p:cNvPr id="27" name="Shape 25"/>
          <p:cNvSpPr/>
          <p:nvPr/>
        </p:nvSpPr>
        <p:spPr>
          <a:xfrm>
            <a:off x="5150815" y="2103120"/>
            <a:ext cx="6492240" cy="274320"/>
          </a:xfrm>
          <a:prstGeom prst="rect">
            <a:avLst/>
          </a:prstGeom>
          <a:solidFill>
            <a:srgbClr val="E6EAF0"/>
          </a:solidFill>
          <a:ln w="9525">
            <a:solidFill>
              <a:srgbClr val="D5DBE3"/>
            </a:solidFill>
            <a:prstDash val="solid"/>
          </a:ln>
        </p:spPr>
      </p:sp>
      <p:sp>
        <p:nvSpPr>
          <p:cNvPr id="28" name="Shape 26"/>
          <p:cNvSpPr/>
          <p:nvPr/>
        </p:nvSpPr>
        <p:spPr>
          <a:xfrm>
            <a:off x="5269687" y="2194560"/>
            <a:ext cx="91440" cy="91440"/>
          </a:xfrm>
          <a:prstGeom prst="ellipse">
            <a:avLst/>
          </a:prstGeom>
          <a:solidFill>
            <a:srgbClr val="FF5F57"/>
          </a:solidFill>
          <a:ln w="12700">
            <a:solidFill>
              <a:srgbClr val="FF5F57"/>
            </a:solidFill>
            <a:prstDash val="solid"/>
          </a:ln>
        </p:spPr>
      </p:sp>
      <p:sp>
        <p:nvSpPr>
          <p:cNvPr id="29" name="Shape 27"/>
          <p:cNvSpPr/>
          <p:nvPr/>
        </p:nvSpPr>
        <p:spPr>
          <a:xfrm>
            <a:off x="5415991" y="2194560"/>
            <a:ext cx="91440" cy="91440"/>
          </a:xfrm>
          <a:prstGeom prst="ellipse">
            <a:avLst/>
          </a:prstGeom>
          <a:solidFill>
            <a:srgbClr val="FEBC2E"/>
          </a:solidFill>
          <a:ln w="12700">
            <a:solidFill>
              <a:srgbClr val="FEBC2E"/>
            </a:solidFill>
            <a:prstDash val="solid"/>
          </a:ln>
        </p:spPr>
      </p:sp>
      <p:sp>
        <p:nvSpPr>
          <p:cNvPr id="30" name="Shape 28"/>
          <p:cNvSpPr/>
          <p:nvPr/>
        </p:nvSpPr>
        <p:spPr>
          <a:xfrm>
            <a:off x="5562295" y="2194560"/>
            <a:ext cx="91440" cy="91440"/>
          </a:xfrm>
          <a:prstGeom prst="ellipse">
            <a:avLst/>
          </a:prstGeom>
          <a:solidFill>
            <a:srgbClr val="28C840"/>
          </a:solidFill>
          <a:ln w="12700">
            <a:solidFill>
              <a:srgbClr val="28C840"/>
            </a:solidFill>
            <a:prstDash val="solid"/>
          </a:ln>
        </p:spPr>
      </p:sp>
      <p:sp>
        <p:nvSpPr>
          <p:cNvPr id="31" name="Shape 29"/>
          <p:cNvSpPr/>
          <p:nvPr/>
        </p:nvSpPr>
        <p:spPr>
          <a:xfrm>
            <a:off x="5809183" y="2157984"/>
            <a:ext cx="2926080" cy="164592"/>
          </a:xfrm>
          <a:prstGeom prst="roundRect">
            <a:avLst>
              <a:gd name="adj" fmla="val 27778"/>
            </a:avLst>
          </a:prstGeom>
          <a:solidFill>
            <a:srgbClr val="FFFFFF"/>
          </a:solidFill>
          <a:ln w="12700">
            <a:solidFill>
              <a:srgbClr val="FFFFFF"/>
            </a:solidFill>
            <a:prstDash val="solid"/>
          </a:ln>
        </p:spPr>
      </p:sp>
      <p:sp>
        <p:nvSpPr>
          <p:cNvPr id="32" name="Text 30"/>
          <p:cNvSpPr txBox="1"/>
          <p:nvPr/>
        </p:nvSpPr>
        <p:spPr>
          <a:xfrm>
            <a:off x="5900623" y="2157984"/>
            <a:ext cx="2743200" cy="164592"/>
          </a:xfrm>
          <a:prstGeom prst="rect">
            <a:avLst/>
          </a:prstGeom>
          <a:noFill/>
          <a:ln/>
        </p:spPr>
        <p:txBody>
          <a:bodyPr wrap="square" lIns="0" tIns="0" rIns="0" bIns="0" rtlCol="0" anchor="ctr"/>
          <a:lstStyle/>
          <a:p>
            <a:pPr marL="0" indent="0">
              <a:buNone/>
            </a:pPr>
            <a:r>
              <a:rPr lang="en-US" sz="800" dirty="0">
                <a:solidFill>
                  <a:srgbClr val="5A6478"/>
                </a:solidFill>
                <a:latin typeface="Calibri" pitchFamily="34" charset="0"/>
                <a:ea typeface="Calibri" pitchFamily="34" charset="-122"/>
                <a:cs typeface="Calibri" pitchFamily="34" charset="-120"/>
              </a:rPr>
              <a:t>localhost:5173/student</a:t>
            </a:r>
            <a:endParaRPr lang="en-US" sz="800" dirty="0"/>
          </a:p>
        </p:txBody>
      </p:sp>
      <p:pic>
        <p:nvPicPr>
          <p:cNvPr id="33" name="Image 0" descr="C:\Users\Parnavi\AppData\Local\Temp\claude\C--Users-Parnavi-Downloads-files-campusq-campusq\95c25616-eec3-4b7f-853a-47da81de960f\scratchpad\deck\shots\dashboard.png"/>
          <p:cNvPicPr>
            <a:picLocks noChangeAspect="1"/>
          </p:cNvPicPr>
          <p:nvPr/>
        </p:nvPicPr>
        <p:blipFill>
          <a:blip r:embed="rId3"/>
          <a:stretch>
            <a:fillRect/>
          </a:stretch>
        </p:blipFill>
        <p:spPr>
          <a:xfrm>
            <a:off x="5150815" y="2377440"/>
            <a:ext cx="6492240" cy="3043238"/>
          </a:xfrm>
          <a:prstGeom prst="rect">
            <a:avLst/>
          </a:prstGeom>
        </p:spPr>
      </p:pic>
      <p:sp>
        <p:nvSpPr>
          <p:cNvPr id="34" name="Text 31"/>
          <p:cNvSpPr txBox="1"/>
          <p:nvPr/>
        </p:nvSpPr>
        <p:spPr>
          <a:xfrm>
            <a:off x="5150815" y="5603558"/>
            <a:ext cx="6492240" cy="320040"/>
          </a:xfrm>
          <a:prstGeom prst="rect">
            <a:avLst/>
          </a:prstGeom>
          <a:noFill/>
          <a:ln/>
        </p:spPr>
        <p:txBody>
          <a:bodyPr wrap="square" lIns="0" tIns="0" rIns="0" bIns="0" rtlCol="0" anchor="ctr"/>
          <a:lstStyle/>
          <a:p>
            <a:pPr marL="0" indent="0">
              <a:buNone/>
            </a:pPr>
            <a:r>
              <a:rPr lang="en-US" sz="1200" i="1" dirty="0">
                <a:solidFill>
                  <a:srgbClr val="5A6478"/>
                </a:solidFill>
                <a:latin typeface="Calibri" pitchFamily="34" charset="0"/>
                <a:ea typeface="Calibri" pitchFamily="34" charset="-122"/>
                <a:cs typeface="Calibri" pitchFamily="34" charset="-120"/>
              </a:rPr>
              <a:t>Real screen: the student dashboard with two live tokens, people ahead and estimated wait.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a:effectLst/>
      </p:bgPr>
    </p:bg>
    <p:spTree>
      <p:nvGrpSpPr>
        <p:cNvPr id="1" name=""/>
        <p:cNvGrpSpPr/>
        <p:nvPr/>
      </p:nvGrpSpPr>
      <p:grpSpPr>
        <a:xfrm>
          <a:off x="0" y="0"/>
          <a:ext cx="0" cy="0"/>
          <a:chOff x="0" y="0"/>
          <a:chExt cx="0" cy="0"/>
        </a:xfrm>
      </p:grpSpPr>
      <p:sp>
        <p:nvSpPr>
          <p:cNvPr id="2" name="Shape 0"/>
          <p:cNvSpPr/>
          <p:nvPr/>
        </p:nvSpPr>
        <p:spPr>
          <a:xfrm>
            <a:off x="548640" y="411480"/>
            <a:ext cx="749808" cy="347472"/>
          </a:xfrm>
          <a:prstGeom prst="roundRect">
            <a:avLst>
              <a:gd name="adj" fmla="val 15789"/>
            </a:avLst>
          </a:prstGeom>
          <a:solidFill>
            <a:srgbClr val="F4B400"/>
          </a:solidFill>
          <a:ln w="12700">
            <a:solidFill>
              <a:srgbClr val="F4B400"/>
            </a:solidFill>
            <a:prstDash val="solid"/>
          </a:ln>
        </p:spPr>
      </p:sp>
      <p:sp>
        <p:nvSpPr>
          <p:cNvPr id="3" name="Text 1"/>
          <p:cNvSpPr txBox="1"/>
          <p:nvPr/>
        </p:nvSpPr>
        <p:spPr>
          <a:xfrm>
            <a:off x="548640" y="411480"/>
            <a:ext cx="749808" cy="347472"/>
          </a:xfrm>
          <a:prstGeom prst="rect">
            <a:avLst/>
          </a:prstGeom>
          <a:noFill/>
          <a:ln/>
        </p:spPr>
        <p:txBody>
          <a:bodyPr wrap="square" lIns="0" tIns="0" rIns="0" bIns="0" rtlCol="0" anchor="ctr"/>
          <a:lstStyle/>
          <a:p>
            <a:pPr marL="0" indent="0" algn="ctr">
              <a:buNone/>
            </a:pPr>
            <a:r>
              <a:rPr lang="en-US" sz="1700" dirty="0">
                <a:solidFill>
                  <a:srgbClr val="172033"/>
                </a:solidFill>
                <a:latin typeface="Bahnschrift SemiBold Condensed" pitchFamily="34" charset="0"/>
                <a:ea typeface="Bahnschrift SemiBold Condensed" pitchFamily="34" charset="-122"/>
                <a:cs typeface="Bahnschrift SemiBold Condensed" pitchFamily="34" charset="-120"/>
              </a:rPr>
              <a:t>A004</a:t>
            </a:r>
            <a:endParaRPr lang="en-US" sz="1700" dirty="0"/>
          </a:p>
        </p:txBody>
      </p:sp>
      <p:sp>
        <p:nvSpPr>
          <p:cNvPr id="4" name="Text 2"/>
          <p:cNvSpPr txBox="1"/>
          <p:nvPr/>
        </p:nvSpPr>
        <p:spPr>
          <a:xfrm>
            <a:off x="1444752" y="411480"/>
            <a:ext cx="5486400" cy="347472"/>
          </a:xfrm>
          <a:prstGeom prst="rect">
            <a:avLst/>
          </a:prstGeom>
          <a:noFill/>
          <a:ln/>
        </p:spPr>
        <p:txBody>
          <a:bodyPr wrap="square" lIns="0" tIns="0" rIns="0" bIns="0" rtlCol="0" anchor="ctr"/>
          <a:lstStyle/>
          <a:p>
            <a:pPr marL="0" indent="0">
              <a:buNone/>
            </a:pPr>
            <a:r>
              <a:rPr lang="en-US" sz="1200" b="1" kern="0" spc="300" dirty="0">
                <a:solidFill>
                  <a:srgbClr val="5A6478"/>
                </a:solidFill>
                <a:latin typeface="Calibri" pitchFamily="34" charset="0"/>
                <a:ea typeface="Calibri" pitchFamily="34" charset="-122"/>
                <a:cs typeface="Calibri" pitchFamily="34" charset="-120"/>
              </a:rPr>
              <a:t>FOR STUDENTS</a:t>
            </a:r>
            <a:endParaRPr lang="en-US" sz="1200" dirty="0"/>
          </a:p>
        </p:txBody>
      </p:sp>
      <p:sp>
        <p:nvSpPr>
          <p:cNvPr id="5" name="Text 3"/>
          <p:cNvSpPr txBox="1"/>
          <p:nvPr/>
        </p:nvSpPr>
        <p:spPr>
          <a:xfrm>
            <a:off x="548640" y="896112"/>
            <a:ext cx="11064240" cy="731520"/>
          </a:xfrm>
          <a:prstGeom prst="rect">
            <a:avLst/>
          </a:prstGeom>
          <a:noFill/>
          <a:ln/>
        </p:spPr>
        <p:txBody>
          <a:bodyPr wrap="square" lIns="0" tIns="0" rIns="0" bIns="0" rtlCol="0" anchor="t"/>
          <a:lstStyle/>
          <a:p>
            <a:pPr marL="0" indent="0">
              <a:buNone/>
            </a:pPr>
            <a:r>
              <a:rPr lang="en-US" sz="3400" dirty="0">
                <a:solidFill>
                  <a:srgbClr val="172033"/>
                </a:solidFill>
                <a:latin typeface="Bahnschrift SemiBold" pitchFamily="34" charset="0"/>
                <a:ea typeface="Bahnschrift SemiBold" pitchFamily="34" charset="-122"/>
                <a:cs typeface="Bahnschrift SemiBold" pitchFamily="34" charset="-120"/>
              </a:rPr>
              <a:t>Built for the phone in every student’s pocket</a:t>
            </a:r>
            <a:endParaRPr lang="en-US" sz="3400" dirty="0"/>
          </a:p>
        </p:txBody>
      </p:sp>
      <p:sp>
        <p:nvSpPr>
          <p:cNvPr id="6" name="Shape 4"/>
          <p:cNvSpPr/>
          <p:nvPr/>
        </p:nvSpPr>
        <p:spPr>
          <a:xfrm>
            <a:off x="548640" y="1783080"/>
            <a:ext cx="2211028" cy="4572000"/>
          </a:xfrm>
          <a:prstGeom prst="roundRect">
            <a:avLst>
              <a:gd name="adj" fmla="val 12407"/>
            </a:avLst>
          </a:prstGeom>
          <a:solidFill>
            <a:srgbClr val="172033"/>
          </a:solidFill>
          <a:ln w="12700">
            <a:solidFill>
              <a:srgbClr val="172033"/>
            </a:solidFill>
            <a:prstDash val="solid"/>
          </a:ln>
          <a:effectLst>
            <a:outerShdw blurRad="203200" dist="63500" dir="5400000" algn="bl" rotWithShape="0">
              <a:srgbClr val="0B1020">
                <a:alpha val="30000"/>
              </a:srgbClr>
            </a:outerShdw>
          </a:effectLst>
        </p:spPr>
      </p:sp>
      <p:pic>
        <p:nvPicPr>
          <p:cNvPr id="7" name="Image 0" descr="C:\Users\Parnavi\AppData\Local\Temp\claude\C--Users-Parnavi-Downloads-files-campusq-campusq\95c25616-eec3-4b7f-853a-47da81de960f\scratchpad\deck\shots\services-mobile.png"/>
          <p:cNvPicPr>
            <a:picLocks noChangeAspect="1"/>
          </p:cNvPicPr>
          <p:nvPr/>
        </p:nvPicPr>
        <p:blipFill>
          <a:blip r:embed="rId3"/>
          <a:stretch>
            <a:fillRect/>
          </a:stretch>
        </p:blipFill>
        <p:spPr>
          <a:xfrm>
            <a:off x="640080" y="1874520"/>
            <a:ext cx="2028148" cy="4389120"/>
          </a:xfrm>
          <a:prstGeom prst="rect">
            <a:avLst/>
          </a:prstGeom>
        </p:spPr>
      </p:pic>
      <p:sp>
        <p:nvSpPr>
          <p:cNvPr id="8" name="Shape 5"/>
          <p:cNvSpPr/>
          <p:nvPr/>
        </p:nvSpPr>
        <p:spPr>
          <a:xfrm>
            <a:off x="3079708" y="1783080"/>
            <a:ext cx="2211028" cy="4572000"/>
          </a:xfrm>
          <a:prstGeom prst="roundRect">
            <a:avLst>
              <a:gd name="adj" fmla="val 12407"/>
            </a:avLst>
          </a:prstGeom>
          <a:solidFill>
            <a:srgbClr val="172033"/>
          </a:solidFill>
          <a:ln w="12700">
            <a:solidFill>
              <a:srgbClr val="172033"/>
            </a:solidFill>
            <a:prstDash val="solid"/>
          </a:ln>
          <a:effectLst>
            <a:outerShdw blurRad="203200" dist="63500" dir="5400000" algn="bl" rotWithShape="0">
              <a:srgbClr val="0B1020">
                <a:alpha val="30000"/>
              </a:srgbClr>
            </a:outerShdw>
          </a:effectLst>
        </p:spPr>
      </p:sp>
      <p:pic>
        <p:nvPicPr>
          <p:cNvPr id="9" name="Image 1" descr="C:\Users\Parnavi\AppData\Local\Temp\claude\C--Users-Parnavi-Downloads-files-campusq-campusq\95c25616-eec3-4b7f-853a-47da81de960f\scratchpad\deck\shots\ticket-mobile.png"/>
          <p:cNvPicPr>
            <a:picLocks noChangeAspect="1"/>
          </p:cNvPicPr>
          <p:nvPr/>
        </p:nvPicPr>
        <p:blipFill>
          <a:blip r:embed="rId4"/>
          <a:stretch>
            <a:fillRect/>
          </a:stretch>
        </p:blipFill>
        <p:spPr>
          <a:xfrm>
            <a:off x="3171148" y="1874520"/>
            <a:ext cx="2028148" cy="4389120"/>
          </a:xfrm>
          <a:prstGeom prst="rect">
            <a:avLst/>
          </a:prstGeom>
        </p:spPr>
      </p:pic>
      <p:sp>
        <p:nvSpPr>
          <p:cNvPr id="10" name="Shape 6"/>
          <p:cNvSpPr/>
          <p:nvPr/>
        </p:nvSpPr>
        <p:spPr>
          <a:xfrm>
            <a:off x="6263640" y="1874520"/>
            <a:ext cx="566928" cy="566928"/>
          </a:xfrm>
          <a:prstGeom prst="ellipse">
            <a:avLst/>
          </a:prstGeom>
          <a:solidFill>
            <a:srgbClr val="F4B400"/>
          </a:solidFill>
          <a:ln w="12700">
            <a:solidFill>
              <a:srgbClr val="F4B400"/>
            </a:solidFill>
            <a:prstDash val="solid"/>
          </a:ln>
        </p:spPr>
      </p:sp>
      <p:pic>
        <p:nvPicPr>
          <p:cNvPr id="11" name="Image 2" descr="preencoded.png"/>
          <p:cNvPicPr>
            <a:picLocks noChangeAspect="1"/>
          </p:cNvPicPr>
          <p:nvPr/>
        </p:nvPicPr>
        <p:blipFill>
          <a:blip r:embed="rId5"/>
          <a:stretch>
            <a:fillRect/>
          </a:stretch>
        </p:blipFill>
        <p:spPr>
          <a:xfrm>
            <a:off x="6394033" y="2004913"/>
            <a:ext cx="306141" cy="306141"/>
          </a:xfrm>
          <a:prstGeom prst="rect">
            <a:avLst/>
          </a:prstGeom>
        </p:spPr>
      </p:pic>
      <p:sp>
        <p:nvSpPr>
          <p:cNvPr id="12" name="Text 7"/>
          <p:cNvSpPr txBox="1"/>
          <p:nvPr/>
        </p:nvSpPr>
        <p:spPr>
          <a:xfrm>
            <a:off x="7086600" y="1856232"/>
            <a:ext cx="4572000" cy="329184"/>
          </a:xfrm>
          <a:prstGeom prst="rect">
            <a:avLst/>
          </a:prstGeom>
          <a:noFill/>
          <a:ln/>
        </p:spPr>
        <p:txBody>
          <a:bodyPr wrap="square" lIns="0" tIns="0" rIns="0" bIns="0" rtlCol="0" anchor="ctr"/>
          <a:lstStyle/>
          <a:p>
            <a:pPr marL="0" indent="0">
              <a:buNone/>
            </a:pPr>
            <a:r>
              <a:rPr lang="en-US" sz="1800" b="1" dirty="0">
                <a:solidFill>
                  <a:srgbClr val="172033"/>
                </a:solidFill>
                <a:latin typeface="Calibri" pitchFamily="34" charset="0"/>
                <a:ea typeface="Calibri" pitchFamily="34" charset="-122"/>
                <a:cs typeface="Calibri" pitchFamily="34" charset="-120"/>
              </a:rPr>
              <a:t>No app to install</a:t>
            </a:r>
            <a:endParaRPr lang="en-US" sz="1800" dirty="0"/>
          </a:p>
        </p:txBody>
      </p:sp>
      <p:sp>
        <p:nvSpPr>
          <p:cNvPr id="13" name="Text 8"/>
          <p:cNvSpPr txBox="1"/>
          <p:nvPr/>
        </p:nvSpPr>
        <p:spPr>
          <a:xfrm>
            <a:off x="7086600" y="2203704"/>
            <a:ext cx="4572000" cy="548640"/>
          </a:xfrm>
          <a:prstGeom prst="rect">
            <a:avLst/>
          </a:prstGeom>
          <a:noFill/>
          <a:ln/>
        </p:spPr>
        <p:txBody>
          <a:bodyPr wrap="square" lIns="0" tIns="0" rIns="0" bIns="0" rtlCol="0" anchor="t"/>
          <a:lstStyle/>
          <a:p>
            <a:pPr marL="0" indent="0">
              <a:buNone/>
            </a:pPr>
            <a:r>
              <a:rPr lang="en-US" sz="1400" dirty="0">
                <a:solidFill>
                  <a:srgbClr val="5A6478"/>
                </a:solidFill>
                <a:latin typeface="Calibri" pitchFamily="34" charset="0"/>
                <a:ea typeface="Calibri" pitchFamily="34" charset="-122"/>
                <a:cs typeface="Calibri" pitchFamily="34" charset="-120"/>
              </a:rPr>
              <a:t>Works in any phone browser, from small 360 px screens to desktops.</a:t>
            </a:r>
            <a:endParaRPr lang="en-US" sz="1400" dirty="0"/>
          </a:p>
        </p:txBody>
      </p:sp>
      <p:sp>
        <p:nvSpPr>
          <p:cNvPr id="14" name="Shape 9"/>
          <p:cNvSpPr/>
          <p:nvPr/>
        </p:nvSpPr>
        <p:spPr>
          <a:xfrm>
            <a:off x="6263640" y="2971800"/>
            <a:ext cx="566928" cy="566928"/>
          </a:xfrm>
          <a:prstGeom prst="ellipse">
            <a:avLst/>
          </a:prstGeom>
          <a:solidFill>
            <a:srgbClr val="F4B400"/>
          </a:solidFill>
          <a:ln w="12700">
            <a:solidFill>
              <a:srgbClr val="F4B400"/>
            </a:solidFill>
            <a:prstDash val="solid"/>
          </a:ln>
        </p:spPr>
      </p:sp>
      <p:pic>
        <p:nvPicPr>
          <p:cNvPr id="15" name="Image 3" descr="preencoded.png"/>
          <p:cNvPicPr>
            <a:picLocks noChangeAspect="1"/>
          </p:cNvPicPr>
          <p:nvPr/>
        </p:nvPicPr>
        <p:blipFill>
          <a:blip r:embed="rId6"/>
          <a:stretch>
            <a:fillRect/>
          </a:stretch>
        </p:blipFill>
        <p:spPr>
          <a:xfrm>
            <a:off x="6394033" y="3102193"/>
            <a:ext cx="306141" cy="306141"/>
          </a:xfrm>
          <a:prstGeom prst="rect">
            <a:avLst/>
          </a:prstGeom>
        </p:spPr>
      </p:pic>
      <p:sp>
        <p:nvSpPr>
          <p:cNvPr id="16" name="Text 10"/>
          <p:cNvSpPr txBox="1"/>
          <p:nvPr/>
        </p:nvSpPr>
        <p:spPr>
          <a:xfrm>
            <a:off x="7086600" y="2953512"/>
            <a:ext cx="4572000" cy="329184"/>
          </a:xfrm>
          <a:prstGeom prst="rect">
            <a:avLst/>
          </a:prstGeom>
          <a:noFill/>
          <a:ln/>
        </p:spPr>
        <p:txBody>
          <a:bodyPr wrap="square" lIns="0" tIns="0" rIns="0" bIns="0" rtlCol="0" anchor="ctr"/>
          <a:lstStyle/>
          <a:p>
            <a:pPr marL="0" indent="0">
              <a:buNone/>
            </a:pPr>
            <a:r>
              <a:rPr lang="en-US" sz="1800" b="1" dirty="0">
                <a:solidFill>
                  <a:srgbClr val="172033"/>
                </a:solidFill>
                <a:latin typeface="Calibri" pitchFamily="34" charset="0"/>
                <a:ea typeface="Calibri" pitchFamily="34" charset="-122"/>
                <a:cs typeface="Calibri" pitchFamily="34" charset="-120"/>
              </a:rPr>
              <a:t>Live position and wait</a:t>
            </a:r>
            <a:endParaRPr lang="en-US" sz="1800" dirty="0"/>
          </a:p>
        </p:txBody>
      </p:sp>
      <p:sp>
        <p:nvSpPr>
          <p:cNvPr id="17" name="Text 11"/>
          <p:cNvSpPr txBox="1"/>
          <p:nvPr/>
        </p:nvSpPr>
        <p:spPr>
          <a:xfrm>
            <a:off x="7086600" y="3300984"/>
            <a:ext cx="4572000" cy="548640"/>
          </a:xfrm>
          <a:prstGeom prst="rect">
            <a:avLst/>
          </a:prstGeom>
          <a:noFill/>
          <a:ln/>
        </p:spPr>
        <p:txBody>
          <a:bodyPr wrap="square" lIns="0" tIns="0" rIns="0" bIns="0" rtlCol="0" anchor="t"/>
          <a:lstStyle/>
          <a:p>
            <a:pPr marL="0" indent="0">
              <a:buNone/>
            </a:pPr>
            <a:r>
              <a:rPr lang="en-US" sz="1400" dirty="0">
                <a:solidFill>
                  <a:srgbClr val="5A6478"/>
                </a:solidFill>
                <a:latin typeface="Calibri" pitchFamily="34" charset="0"/>
                <a:ea typeface="Calibri" pitchFamily="34" charset="-122"/>
                <a:cs typeface="Calibri" pitchFamily="34" charset="-120"/>
              </a:rPr>
              <a:t>People ahead, estimated minutes and the token now being served.</a:t>
            </a:r>
            <a:endParaRPr lang="en-US" sz="1400" dirty="0"/>
          </a:p>
        </p:txBody>
      </p:sp>
      <p:sp>
        <p:nvSpPr>
          <p:cNvPr id="18" name="Shape 12"/>
          <p:cNvSpPr/>
          <p:nvPr/>
        </p:nvSpPr>
        <p:spPr>
          <a:xfrm>
            <a:off x="6263640" y="4069080"/>
            <a:ext cx="566928" cy="566928"/>
          </a:xfrm>
          <a:prstGeom prst="ellipse">
            <a:avLst/>
          </a:prstGeom>
          <a:solidFill>
            <a:srgbClr val="F4B400"/>
          </a:solidFill>
          <a:ln w="12700">
            <a:solidFill>
              <a:srgbClr val="F4B400"/>
            </a:solidFill>
            <a:prstDash val="solid"/>
          </a:ln>
        </p:spPr>
      </p:sp>
      <p:pic>
        <p:nvPicPr>
          <p:cNvPr id="19" name="Image 4" descr="preencoded.png"/>
          <p:cNvPicPr>
            <a:picLocks noChangeAspect="1"/>
          </p:cNvPicPr>
          <p:nvPr/>
        </p:nvPicPr>
        <p:blipFill>
          <a:blip r:embed="rId7"/>
          <a:stretch>
            <a:fillRect/>
          </a:stretch>
        </p:blipFill>
        <p:spPr>
          <a:xfrm>
            <a:off x="6394033" y="4199473"/>
            <a:ext cx="306141" cy="306141"/>
          </a:xfrm>
          <a:prstGeom prst="rect">
            <a:avLst/>
          </a:prstGeom>
        </p:spPr>
      </p:pic>
      <p:sp>
        <p:nvSpPr>
          <p:cNvPr id="20" name="Text 13"/>
          <p:cNvSpPr txBox="1"/>
          <p:nvPr/>
        </p:nvSpPr>
        <p:spPr>
          <a:xfrm>
            <a:off x="7086600" y="4050792"/>
            <a:ext cx="4572000" cy="329184"/>
          </a:xfrm>
          <a:prstGeom prst="rect">
            <a:avLst/>
          </a:prstGeom>
          <a:noFill/>
          <a:ln/>
        </p:spPr>
        <p:txBody>
          <a:bodyPr wrap="square" lIns="0" tIns="0" rIns="0" bIns="0" rtlCol="0" anchor="ctr"/>
          <a:lstStyle/>
          <a:p>
            <a:pPr marL="0" indent="0">
              <a:buNone/>
            </a:pPr>
            <a:r>
              <a:rPr lang="en-US" sz="1800" b="1" dirty="0">
                <a:solidFill>
                  <a:srgbClr val="172033"/>
                </a:solidFill>
                <a:latin typeface="Calibri" pitchFamily="34" charset="0"/>
                <a:ea typeface="Calibri" pitchFamily="34" charset="-122"/>
                <a:cs typeface="Calibri" pitchFamily="34" charset="-120"/>
              </a:rPr>
              <a:t>Alerts when it matters</a:t>
            </a:r>
            <a:endParaRPr lang="en-US" sz="1800" dirty="0"/>
          </a:p>
        </p:txBody>
      </p:sp>
      <p:sp>
        <p:nvSpPr>
          <p:cNvPr id="21" name="Text 14"/>
          <p:cNvSpPr txBox="1"/>
          <p:nvPr/>
        </p:nvSpPr>
        <p:spPr>
          <a:xfrm>
            <a:off x="7086600" y="4398264"/>
            <a:ext cx="4572000" cy="548640"/>
          </a:xfrm>
          <a:prstGeom prst="rect">
            <a:avLst/>
          </a:prstGeom>
          <a:noFill/>
          <a:ln/>
        </p:spPr>
        <p:txBody>
          <a:bodyPr wrap="square" lIns="0" tIns="0" rIns="0" bIns="0" rtlCol="0" anchor="t"/>
          <a:lstStyle/>
          <a:p>
            <a:pPr marL="0" indent="0">
              <a:buNone/>
            </a:pPr>
            <a:r>
              <a:rPr lang="en-US" sz="1400" dirty="0">
                <a:solidFill>
                  <a:srgbClr val="5A6478"/>
                </a:solidFill>
                <a:latin typeface="Calibri" pitchFamily="34" charset="0"/>
                <a:ea typeface="Calibri" pitchFamily="34" charset="-122"/>
                <a:cs typeface="Calibri" pitchFamily="34" charset="-120"/>
              </a:rPr>
              <a:t>“You’re next” heads-up, then “It’s your turn” with a notification and vibration.</a:t>
            </a:r>
            <a:endParaRPr lang="en-US" sz="1400" dirty="0"/>
          </a:p>
        </p:txBody>
      </p:sp>
      <p:sp>
        <p:nvSpPr>
          <p:cNvPr id="22" name="Shape 15"/>
          <p:cNvSpPr/>
          <p:nvPr/>
        </p:nvSpPr>
        <p:spPr>
          <a:xfrm>
            <a:off x="6263640" y="5166360"/>
            <a:ext cx="566928" cy="566928"/>
          </a:xfrm>
          <a:prstGeom prst="ellipse">
            <a:avLst/>
          </a:prstGeom>
          <a:solidFill>
            <a:srgbClr val="F4B400"/>
          </a:solidFill>
          <a:ln w="12700">
            <a:solidFill>
              <a:srgbClr val="F4B400"/>
            </a:solidFill>
            <a:prstDash val="solid"/>
          </a:ln>
        </p:spPr>
      </p:sp>
      <p:pic>
        <p:nvPicPr>
          <p:cNvPr id="23" name="Image 5" descr="preencoded.png"/>
          <p:cNvPicPr>
            <a:picLocks noChangeAspect="1"/>
          </p:cNvPicPr>
          <p:nvPr/>
        </p:nvPicPr>
        <p:blipFill>
          <a:blip r:embed="rId8"/>
          <a:stretch>
            <a:fillRect/>
          </a:stretch>
        </p:blipFill>
        <p:spPr>
          <a:xfrm>
            <a:off x="6394033" y="5296753"/>
            <a:ext cx="306141" cy="306141"/>
          </a:xfrm>
          <a:prstGeom prst="rect">
            <a:avLst/>
          </a:prstGeom>
        </p:spPr>
      </p:pic>
      <p:sp>
        <p:nvSpPr>
          <p:cNvPr id="24" name="Text 16"/>
          <p:cNvSpPr txBox="1"/>
          <p:nvPr/>
        </p:nvSpPr>
        <p:spPr>
          <a:xfrm>
            <a:off x="7086600" y="5148072"/>
            <a:ext cx="4572000" cy="329184"/>
          </a:xfrm>
          <a:prstGeom prst="rect">
            <a:avLst/>
          </a:prstGeom>
          <a:noFill/>
          <a:ln/>
        </p:spPr>
        <p:txBody>
          <a:bodyPr wrap="square" lIns="0" tIns="0" rIns="0" bIns="0" rtlCol="0" anchor="ctr"/>
          <a:lstStyle/>
          <a:p>
            <a:pPr marL="0" indent="0">
              <a:buNone/>
            </a:pPr>
            <a:r>
              <a:rPr lang="en-US" sz="1800" b="1" dirty="0">
                <a:solidFill>
                  <a:srgbClr val="172033"/>
                </a:solidFill>
                <a:latin typeface="Calibri" pitchFamily="34" charset="0"/>
                <a:ea typeface="Calibri" pitchFamily="34" charset="-122"/>
                <a:cs typeface="Calibri" pitchFamily="34" charset="-120"/>
              </a:rPr>
              <a:t>Leave any time</a:t>
            </a:r>
            <a:endParaRPr lang="en-US" sz="1800" dirty="0"/>
          </a:p>
        </p:txBody>
      </p:sp>
      <p:sp>
        <p:nvSpPr>
          <p:cNvPr id="25" name="Text 17"/>
          <p:cNvSpPr txBox="1"/>
          <p:nvPr/>
        </p:nvSpPr>
        <p:spPr>
          <a:xfrm>
            <a:off x="7086600" y="5495544"/>
            <a:ext cx="4572000" cy="548640"/>
          </a:xfrm>
          <a:prstGeom prst="rect">
            <a:avLst/>
          </a:prstGeom>
          <a:noFill/>
          <a:ln/>
        </p:spPr>
        <p:txBody>
          <a:bodyPr wrap="square" lIns="0" tIns="0" rIns="0" bIns="0" rtlCol="0" anchor="t"/>
          <a:lstStyle/>
          <a:p>
            <a:pPr marL="0" indent="0">
              <a:buNone/>
            </a:pPr>
            <a:r>
              <a:rPr lang="en-US" sz="1400" dirty="0">
                <a:solidFill>
                  <a:srgbClr val="5A6478"/>
                </a:solidFill>
                <a:latin typeface="Calibri" pitchFamily="34" charset="0"/>
                <a:ea typeface="Calibri" pitchFamily="34" charset="-122"/>
                <a:cs typeface="Calibri" pitchFamily="34" charset="-120"/>
              </a:rPr>
              <a:t>Cancel a waiting token in one tap; everyone behind moves 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749808" cy="347472"/>
          </a:xfrm>
          <a:prstGeom prst="roundRect">
            <a:avLst>
              <a:gd name="adj" fmla="val 15789"/>
            </a:avLst>
          </a:prstGeom>
          <a:solidFill>
            <a:srgbClr val="F4B400"/>
          </a:solidFill>
          <a:ln w="12700">
            <a:solidFill>
              <a:srgbClr val="F4B400"/>
            </a:solidFill>
            <a:prstDash val="solid"/>
          </a:ln>
        </p:spPr>
      </p:sp>
      <p:sp>
        <p:nvSpPr>
          <p:cNvPr id="3" name="Text 1"/>
          <p:cNvSpPr txBox="1"/>
          <p:nvPr/>
        </p:nvSpPr>
        <p:spPr>
          <a:xfrm>
            <a:off x="548640" y="411480"/>
            <a:ext cx="749808" cy="347472"/>
          </a:xfrm>
          <a:prstGeom prst="rect">
            <a:avLst/>
          </a:prstGeom>
          <a:noFill/>
          <a:ln/>
        </p:spPr>
        <p:txBody>
          <a:bodyPr wrap="square" lIns="0" tIns="0" rIns="0" bIns="0" rtlCol="0" anchor="ctr"/>
          <a:lstStyle/>
          <a:p>
            <a:pPr marL="0" indent="0" algn="ctr">
              <a:buNone/>
            </a:pPr>
            <a:r>
              <a:rPr lang="en-US" sz="1700" dirty="0">
                <a:solidFill>
                  <a:srgbClr val="172033"/>
                </a:solidFill>
                <a:latin typeface="Bahnschrift SemiBold Condensed" pitchFamily="34" charset="0"/>
                <a:ea typeface="Bahnschrift SemiBold Condensed" pitchFamily="34" charset="-122"/>
                <a:cs typeface="Bahnschrift SemiBold Condensed" pitchFamily="34" charset="-120"/>
              </a:rPr>
              <a:t>A005</a:t>
            </a:r>
            <a:endParaRPr lang="en-US" sz="1700" dirty="0"/>
          </a:p>
        </p:txBody>
      </p:sp>
      <p:sp>
        <p:nvSpPr>
          <p:cNvPr id="4" name="Text 2"/>
          <p:cNvSpPr txBox="1"/>
          <p:nvPr/>
        </p:nvSpPr>
        <p:spPr>
          <a:xfrm>
            <a:off x="1444752" y="411480"/>
            <a:ext cx="5486400" cy="347472"/>
          </a:xfrm>
          <a:prstGeom prst="rect">
            <a:avLst/>
          </a:prstGeom>
          <a:noFill/>
          <a:ln/>
        </p:spPr>
        <p:txBody>
          <a:bodyPr wrap="square" lIns="0" tIns="0" rIns="0" bIns="0" rtlCol="0" anchor="ctr"/>
          <a:lstStyle/>
          <a:p>
            <a:pPr marL="0" indent="0">
              <a:buNone/>
            </a:pPr>
            <a:r>
              <a:rPr lang="en-US" sz="1200" b="1" kern="0" spc="300" dirty="0">
                <a:solidFill>
                  <a:srgbClr val="5A6478"/>
                </a:solidFill>
                <a:latin typeface="Calibri" pitchFamily="34" charset="0"/>
                <a:ea typeface="Calibri" pitchFamily="34" charset="-122"/>
                <a:cs typeface="Calibri" pitchFamily="34" charset="-120"/>
              </a:rPr>
              <a:t>FOR STAFF</a:t>
            </a:r>
            <a:endParaRPr lang="en-US" sz="1200" dirty="0"/>
          </a:p>
        </p:txBody>
      </p:sp>
      <p:sp>
        <p:nvSpPr>
          <p:cNvPr id="5" name="Text 3"/>
          <p:cNvSpPr txBox="1"/>
          <p:nvPr/>
        </p:nvSpPr>
        <p:spPr>
          <a:xfrm>
            <a:off x="548640" y="896112"/>
            <a:ext cx="11064240" cy="731520"/>
          </a:xfrm>
          <a:prstGeom prst="rect">
            <a:avLst/>
          </a:prstGeom>
          <a:noFill/>
          <a:ln/>
        </p:spPr>
        <p:txBody>
          <a:bodyPr wrap="square" lIns="0" tIns="0" rIns="0" bIns="0" rtlCol="0" anchor="t"/>
          <a:lstStyle/>
          <a:p>
            <a:pPr marL="0" indent="0">
              <a:buNone/>
            </a:pPr>
            <a:r>
              <a:rPr lang="en-US" sz="3400" dirty="0">
                <a:solidFill>
                  <a:srgbClr val="172033"/>
                </a:solidFill>
                <a:latin typeface="Bahnschrift SemiBold" pitchFamily="34" charset="0"/>
                <a:ea typeface="Bahnschrift SemiBold" pitchFamily="34" charset="-122"/>
                <a:cs typeface="Bahnschrift SemiBold" pitchFamily="34" charset="-120"/>
              </a:rPr>
              <a:t>One tap calls the next student</a:t>
            </a:r>
            <a:endParaRPr lang="en-US" sz="3400" dirty="0"/>
          </a:p>
        </p:txBody>
      </p:sp>
      <p:sp>
        <p:nvSpPr>
          <p:cNvPr id="6" name="Shape 4"/>
          <p:cNvSpPr/>
          <p:nvPr/>
        </p:nvSpPr>
        <p:spPr>
          <a:xfrm>
            <a:off x="548640" y="1737360"/>
            <a:ext cx="6400800" cy="4574858"/>
          </a:xfrm>
          <a:prstGeom prst="rect">
            <a:avLst/>
          </a:prstGeom>
          <a:solidFill>
            <a:srgbClr val="FFFFFF"/>
          </a:solidFill>
          <a:ln w="9525">
            <a:solidFill>
              <a:srgbClr val="D5DBE3"/>
            </a:solidFill>
            <a:prstDash val="solid"/>
          </a:ln>
          <a:effectLst>
            <a:outerShdw blurRad="203200" dist="63500" dir="5400000" algn="bl" rotWithShape="0">
              <a:srgbClr val="0B1020">
                <a:alpha val="18000"/>
              </a:srgbClr>
            </a:outerShdw>
          </a:effectLst>
        </p:spPr>
      </p:sp>
      <p:sp>
        <p:nvSpPr>
          <p:cNvPr id="7" name="Shape 5"/>
          <p:cNvSpPr/>
          <p:nvPr/>
        </p:nvSpPr>
        <p:spPr>
          <a:xfrm>
            <a:off x="548640" y="1737360"/>
            <a:ext cx="6400800" cy="274320"/>
          </a:xfrm>
          <a:prstGeom prst="rect">
            <a:avLst/>
          </a:prstGeom>
          <a:solidFill>
            <a:srgbClr val="E6EAF0"/>
          </a:solidFill>
          <a:ln w="9525">
            <a:solidFill>
              <a:srgbClr val="D5DBE3"/>
            </a:solidFill>
            <a:prstDash val="solid"/>
          </a:ln>
        </p:spPr>
      </p:sp>
      <p:sp>
        <p:nvSpPr>
          <p:cNvPr id="8" name="Shape 6"/>
          <p:cNvSpPr/>
          <p:nvPr/>
        </p:nvSpPr>
        <p:spPr>
          <a:xfrm>
            <a:off x="667512" y="1828800"/>
            <a:ext cx="91440" cy="91440"/>
          </a:xfrm>
          <a:prstGeom prst="ellipse">
            <a:avLst/>
          </a:prstGeom>
          <a:solidFill>
            <a:srgbClr val="FF5F57"/>
          </a:solidFill>
          <a:ln w="12700">
            <a:solidFill>
              <a:srgbClr val="FF5F57"/>
            </a:solidFill>
            <a:prstDash val="solid"/>
          </a:ln>
        </p:spPr>
      </p:sp>
      <p:sp>
        <p:nvSpPr>
          <p:cNvPr id="9" name="Shape 7"/>
          <p:cNvSpPr/>
          <p:nvPr/>
        </p:nvSpPr>
        <p:spPr>
          <a:xfrm>
            <a:off x="813816" y="1828800"/>
            <a:ext cx="91440" cy="91440"/>
          </a:xfrm>
          <a:prstGeom prst="ellipse">
            <a:avLst/>
          </a:prstGeom>
          <a:solidFill>
            <a:srgbClr val="FEBC2E"/>
          </a:solidFill>
          <a:ln w="12700">
            <a:solidFill>
              <a:srgbClr val="FEBC2E"/>
            </a:solidFill>
            <a:prstDash val="solid"/>
          </a:ln>
        </p:spPr>
      </p:sp>
      <p:sp>
        <p:nvSpPr>
          <p:cNvPr id="10" name="Shape 8"/>
          <p:cNvSpPr/>
          <p:nvPr/>
        </p:nvSpPr>
        <p:spPr>
          <a:xfrm>
            <a:off x="960120" y="1828800"/>
            <a:ext cx="91440" cy="91440"/>
          </a:xfrm>
          <a:prstGeom prst="ellipse">
            <a:avLst/>
          </a:prstGeom>
          <a:solidFill>
            <a:srgbClr val="28C840"/>
          </a:solidFill>
          <a:ln w="12700">
            <a:solidFill>
              <a:srgbClr val="28C840"/>
            </a:solidFill>
            <a:prstDash val="solid"/>
          </a:ln>
        </p:spPr>
      </p:sp>
      <p:sp>
        <p:nvSpPr>
          <p:cNvPr id="11" name="Shape 9"/>
          <p:cNvSpPr/>
          <p:nvPr/>
        </p:nvSpPr>
        <p:spPr>
          <a:xfrm>
            <a:off x="1207008" y="1792224"/>
            <a:ext cx="2926080" cy="164592"/>
          </a:xfrm>
          <a:prstGeom prst="roundRect">
            <a:avLst>
              <a:gd name="adj" fmla="val 27778"/>
            </a:avLst>
          </a:prstGeom>
          <a:solidFill>
            <a:srgbClr val="FFFFFF"/>
          </a:solidFill>
          <a:ln w="12700">
            <a:solidFill>
              <a:srgbClr val="FFFFFF"/>
            </a:solidFill>
            <a:prstDash val="solid"/>
          </a:ln>
        </p:spPr>
      </p:sp>
      <p:sp>
        <p:nvSpPr>
          <p:cNvPr id="12" name="Text 10"/>
          <p:cNvSpPr txBox="1"/>
          <p:nvPr/>
        </p:nvSpPr>
        <p:spPr>
          <a:xfrm>
            <a:off x="1298448" y="1792224"/>
            <a:ext cx="2743200" cy="164592"/>
          </a:xfrm>
          <a:prstGeom prst="rect">
            <a:avLst/>
          </a:prstGeom>
          <a:noFill/>
          <a:ln/>
        </p:spPr>
        <p:txBody>
          <a:bodyPr wrap="square" lIns="0" tIns="0" rIns="0" bIns="0" rtlCol="0" anchor="ctr"/>
          <a:lstStyle/>
          <a:p>
            <a:pPr marL="0" indent="0">
              <a:buNone/>
            </a:pPr>
            <a:r>
              <a:rPr lang="en-US" sz="800" dirty="0">
                <a:solidFill>
                  <a:srgbClr val="5A6478"/>
                </a:solidFill>
                <a:latin typeface="Calibri" pitchFamily="34" charset="0"/>
                <a:ea typeface="Calibri" pitchFamily="34" charset="-122"/>
                <a:cs typeface="Calibri" pitchFamily="34" charset="-120"/>
              </a:rPr>
              <a:t>localhost:5173/staff/services/1</a:t>
            </a:r>
            <a:endParaRPr lang="en-US" sz="800" dirty="0"/>
          </a:p>
        </p:txBody>
      </p:sp>
      <p:pic>
        <p:nvPicPr>
          <p:cNvPr id="13" name="Image 0" descr="C:\Users\Parnavi\AppData\Local\Temp\claude\C--Users-Parnavi-Downloads-files-campusq-campusq\95c25616-eec3-4b7f-853a-47da81de960f\scratchpad\deck\shots\staff-queue.png"/>
          <p:cNvPicPr>
            <a:picLocks noChangeAspect="1"/>
          </p:cNvPicPr>
          <p:nvPr/>
        </p:nvPicPr>
        <p:blipFill>
          <a:blip r:embed="rId3"/>
          <a:stretch>
            <a:fillRect/>
          </a:stretch>
        </p:blipFill>
        <p:spPr>
          <a:xfrm>
            <a:off x="548640" y="2011680"/>
            <a:ext cx="6400800" cy="4300538"/>
          </a:xfrm>
          <a:prstGeom prst="rect">
            <a:avLst/>
          </a:prstGeom>
        </p:spPr>
      </p:pic>
      <p:sp>
        <p:nvSpPr>
          <p:cNvPr id="14" name="Shape 11"/>
          <p:cNvSpPr/>
          <p:nvPr/>
        </p:nvSpPr>
        <p:spPr>
          <a:xfrm>
            <a:off x="7589520" y="1828800"/>
            <a:ext cx="530352" cy="530352"/>
          </a:xfrm>
          <a:prstGeom prst="ellipse">
            <a:avLst/>
          </a:prstGeom>
          <a:solidFill>
            <a:srgbClr val="172033"/>
          </a:solidFill>
          <a:ln w="12700">
            <a:solidFill>
              <a:srgbClr val="172033"/>
            </a:solidFill>
            <a:prstDash val="solid"/>
          </a:ln>
        </p:spPr>
      </p:sp>
      <p:pic>
        <p:nvPicPr>
          <p:cNvPr id="15" name="Image 1" descr="preencoded.png"/>
          <p:cNvPicPr>
            <a:picLocks noChangeAspect="1"/>
          </p:cNvPicPr>
          <p:nvPr/>
        </p:nvPicPr>
        <p:blipFill>
          <a:blip r:embed="rId4"/>
          <a:stretch>
            <a:fillRect/>
          </a:stretch>
        </p:blipFill>
        <p:spPr>
          <a:xfrm>
            <a:off x="7711501" y="1950781"/>
            <a:ext cx="286390" cy="286390"/>
          </a:xfrm>
          <a:prstGeom prst="rect">
            <a:avLst/>
          </a:prstGeom>
        </p:spPr>
      </p:pic>
      <p:sp>
        <p:nvSpPr>
          <p:cNvPr id="16" name="Text 12"/>
          <p:cNvSpPr txBox="1"/>
          <p:nvPr/>
        </p:nvSpPr>
        <p:spPr>
          <a:xfrm>
            <a:off x="8321040" y="1810512"/>
            <a:ext cx="3319272" cy="329184"/>
          </a:xfrm>
          <a:prstGeom prst="rect">
            <a:avLst/>
          </a:prstGeom>
          <a:noFill/>
          <a:ln/>
        </p:spPr>
        <p:txBody>
          <a:bodyPr wrap="square" lIns="0" tIns="0" rIns="0" bIns="0" rtlCol="0" anchor="ctr"/>
          <a:lstStyle/>
          <a:p>
            <a:pPr marL="0" indent="0">
              <a:buNone/>
            </a:pPr>
            <a:r>
              <a:rPr lang="en-US" sz="1800" b="1" dirty="0">
                <a:solidFill>
                  <a:srgbClr val="172033"/>
                </a:solidFill>
                <a:latin typeface="Calibri" pitchFamily="34" charset="0"/>
                <a:ea typeface="Calibri" pitchFamily="34" charset="-122"/>
                <a:cs typeface="Calibri" pitchFamily="34" charset="-120"/>
              </a:rPr>
              <a:t>Call next</a:t>
            </a:r>
            <a:endParaRPr lang="en-US" sz="1800" dirty="0"/>
          </a:p>
        </p:txBody>
      </p:sp>
      <p:sp>
        <p:nvSpPr>
          <p:cNvPr id="17" name="Text 13"/>
          <p:cNvSpPr txBox="1"/>
          <p:nvPr/>
        </p:nvSpPr>
        <p:spPr>
          <a:xfrm>
            <a:off x="8321040" y="2157984"/>
            <a:ext cx="3319272" cy="685800"/>
          </a:xfrm>
          <a:prstGeom prst="rect">
            <a:avLst/>
          </a:prstGeom>
          <a:noFill/>
          <a:ln/>
        </p:spPr>
        <p:txBody>
          <a:bodyPr wrap="square" lIns="0" tIns="0" rIns="0" bIns="0" rtlCol="0" anchor="t"/>
          <a:lstStyle/>
          <a:p>
            <a:pPr marL="0" indent="0">
              <a:buNone/>
            </a:pPr>
            <a:r>
              <a:rPr lang="en-US" sz="1350" dirty="0">
                <a:solidFill>
                  <a:srgbClr val="5A6478"/>
                </a:solidFill>
                <a:latin typeface="Calibri" pitchFamily="34" charset="0"/>
                <a:ea typeface="Calibri" pitchFamily="34" charset="-122"/>
                <a:cs typeface="Calibri" pitchFamily="34" charset="-120"/>
              </a:rPr>
              <a:t>Completes the current token and calls the next. The student is alerted instantly.</a:t>
            </a:r>
            <a:endParaRPr lang="en-US" sz="1350" dirty="0"/>
          </a:p>
        </p:txBody>
      </p:sp>
      <p:sp>
        <p:nvSpPr>
          <p:cNvPr id="18" name="Shape 14"/>
          <p:cNvSpPr/>
          <p:nvPr/>
        </p:nvSpPr>
        <p:spPr>
          <a:xfrm>
            <a:off x="7589520" y="2944368"/>
            <a:ext cx="530352" cy="530352"/>
          </a:xfrm>
          <a:prstGeom prst="ellipse">
            <a:avLst/>
          </a:prstGeom>
          <a:solidFill>
            <a:srgbClr val="172033"/>
          </a:solidFill>
          <a:ln w="12700">
            <a:solidFill>
              <a:srgbClr val="172033"/>
            </a:solidFill>
            <a:prstDash val="solid"/>
          </a:ln>
        </p:spPr>
      </p:sp>
      <p:pic>
        <p:nvPicPr>
          <p:cNvPr id="19" name="Image 2" descr="preencoded.png"/>
          <p:cNvPicPr>
            <a:picLocks noChangeAspect="1"/>
          </p:cNvPicPr>
          <p:nvPr/>
        </p:nvPicPr>
        <p:blipFill>
          <a:blip r:embed="rId5"/>
          <a:stretch>
            <a:fillRect/>
          </a:stretch>
        </p:blipFill>
        <p:spPr>
          <a:xfrm>
            <a:off x="7711501" y="3066349"/>
            <a:ext cx="286390" cy="286390"/>
          </a:xfrm>
          <a:prstGeom prst="rect">
            <a:avLst/>
          </a:prstGeom>
        </p:spPr>
      </p:pic>
      <p:sp>
        <p:nvSpPr>
          <p:cNvPr id="20" name="Text 15"/>
          <p:cNvSpPr txBox="1"/>
          <p:nvPr/>
        </p:nvSpPr>
        <p:spPr>
          <a:xfrm>
            <a:off x="8321040" y="2926080"/>
            <a:ext cx="3319272" cy="329184"/>
          </a:xfrm>
          <a:prstGeom prst="rect">
            <a:avLst/>
          </a:prstGeom>
          <a:noFill/>
          <a:ln/>
        </p:spPr>
        <p:txBody>
          <a:bodyPr wrap="square" lIns="0" tIns="0" rIns="0" bIns="0" rtlCol="0" anchor="ctr"/>
          <a:lstStyle/>
          <a:p>
            <a:pPr marL="0" indent="0">
              <a:buNone/>
            </a:pPr>
            <a:r>
              <a:rPr lang="en-US" sz="1800" b="1" dirty="0">
                <a:solidFill>
                  <a:srgbClr val="172033"/>
                </a:solidFill>
                <a:latin typeface="Calibri" pitchFamily="34" charset="0"/>
                <a:ea typeface="Calibri" pitchFamily="34" charset="-122"/>
                <a:cs typeface="Calibri" pitchFamily="34" charset="-120"/>
              </a:rPr>
              <a:t>Skip no-shows</a:t>
            </a:r>
            <a:endParaRPr lang="en-US" sz="1800" dirty="0"/>
          </a:p>
        </p:txBody>
      </p:sp>
      <p:sp>
        <p:nvSpPr>
          <p:cNvPr id="21" name="Text 16"/>
          <p:cNvSpPr txBox="1"/>
          <p:nvPr/>
        </p:nvSpPr>
        <p:spPr>
          <a:xfrm>
            <a:off x="8321040" y="3273552"/>
            <a:ext cx="3319272" cy="685800"/>
          </a:xfrm>
          <a:prstGeom prst="rect">
            <a:avLst/>
          </a:prstGeom>
          <a:noFill/>
          <a:ln/>
        </p:spPr>
        <p:txBody>
          <a:bodyPr wrap="square" lIns="0" tIns="0" rIns="0" bIns="0" rtlCol="0" anchor="t"/>
          <a:lstStyle/>
          <a:p>
            <a:pPr marL="0" indent="0">
              <a:buNone/>
            </a:pPr>
            <a:r>
              <a:rPr lang="en-US" sz="1350" dirty="0">
                <a:solidFill>
                  <a:srgbClr val="5A6478"/>
                </a:solidFill>
                <a:latin typeface="Calibri" pitchFamily="34" charset="0"/>
                <a:ea typeface="Calibri" pitchFamily="34" charset="-122"/>
                <a:cs typeface="Calibri" pitchFamily="34" charset="-120"/>
              </a:rPr>
              <a:t>Move past a student who did not turn up; the line closes the gap.</a:t>
            </a:r>
            <a:endParaRPr lang="en-US" sz="1350" dirty="0"/>
          </a:p>
        </p:txBody>
      </p:sp>
      <p:sp>
        <p:nvSpPr>
          <p:cNvPr id="22" name="Shape 17"/>
          <p:cNvSpPr/>
          <p:nvPr/>
        </p:nvSpPr>
        <p:spPr>
          <a:xfrm>
            <a:off x="7589520" y="4059936"/>
            <a:ext cx="530352" cy="530352"/>
          </a:xfrm>
          <a:prstGeom prst="ellipse">
            <a:avLst/>
          </a:prstGeom>
          <a:solidFill>
            <a:srgbClr val="172033"/>
          </a:solidFill>
          <a:ln w="12700">
            <a:solidFill>
              <a:srgbClr val="172033"/>
            </a:solidFill>
            <a:prstDash val="solid"/>
          </a:ln>
        </p:spPr>
      </p:sp>
      <p:pic>
        <p:nvPicPr>
          <p:cNvPr id="23" name="Image 3" descr="preencoded.png"/>
          <p:cNvPicPr>
            <a:picLocks noChangeAspect="1"/>
          </p:cNvPicPr>
          <p:nvPr/>
        </p:nvPicPr>
        <p:blipFill>
          <a:blip r:embed="rId6"/>
          <a:stretch>
            <a:fillRect/>
          </a:stretch>
        </p:blipFill>
        <p:spPr>
          <a:xfrm>
            <a:off x="7711501" y="4181917"/>
            <a:ext cx="286390" cy="286390"/>
          </a:xfrm>
          <a:prstGeom prst="rect">
            <a:avLst/>
          </a:prstGeom>
        </p:spPr>
      </p:pic>
      <p:sp>
        <p:nvSpPr>
          <p:cNvPr id="24" name="Text 18"/>
          <p:cNvSpPr txBox="1"/>
          <p:nvPr/>
        </p:nvSpPr>
        <p:spPr>
          <a:xfrm>
            <a:off x="8321040" y="4041648"/>
            <a:ext cx="3319272" cy="329184"/>
          </a:xfrm>
          <a:prstGeom prst="rect">
            <a:avLst/>
          </a:prstGeom>
          <a:noFill/>
          <a:ln/>
        </p:spPr>
        <p:txBody>
          <a:bodyPr wrap="square" lIns="0" tIns="0" rIns="0" bIns="0" rtlCol="0" anchor="ctr"/>
          <a:lstStyle/>
          <a:p>
            <a:pPr marL="0" indent="0">
              <a:buNone/>
            </a:pPr>
            <a:r>
              <a:rPr lang="en-US" sz="1800" b="1" dirty="0">
                <a:solidFill>
                  <a:srgbClr val="172033"/>
                </a:solidFill>
                <a:latin typeface="Calibri" pitchFamily="34" charset="0"/>
                <a:ea typeface="Calibri" pitchFamily="34" charset="-122"/>
                <a:cs typeface="Calibri" pitchFamily="34" charset="-120"/>
              </a:rPr>
              <a:t>Pause for breaks</a:t>
            </a:r>
            <a:endParaRPr lang="en-US" sz="1800" dirty="0"/>
          </a:p>
        </p:txBody>
      </p:sp>
      <p:sp>
        <p:nvSpPr>
          <p:cNvPr id="25" name="Text 19"/>
          <p:cNvSpPr txBox="1"/>
          <p:nvPr/>
        </p:nvSpPr>
        <p:spPr>
          <a:xfrm>
            <a:off x="8321040" y="4389120"/>
            <a:ext cx="3319272" cy="685800"/>
          </a:xfrm>
          <a:prstGeom prst="rect">
            <a:avLst/>
          </a:prstGeom>
          <a:noFill/>
          <a:ln/>
        </p:spPr>
        <p:txBody>
          <a:bodyPr wrap="square" lIns="0" tIns="0" rIns="0" bIns="0" rtlCol="0" anchor="t"/>
          <a:lstStyle/>
          <a:p>
            <a:pPr marL="0" indent="0">
              <a:buNone/>
            </a:pPr>
            <a:r>
              <a:rPr lang="en-US" sz="1350" dirty="0">
                <a:solidFill>
                  <a:srgbClr val="5A6478"/>
                </a:solidFill>
                <a:latin typeface="Calibri" pitchFamily="34" charset="0"/>
                <a:ea typeface="Calibri" pitchFamily="34" charset="-122"/>
                <a:cs typeface="Calibri" pitchFamily="34" charset="-120"/>
              </a:rPr>
              <a:t>New joins stop, and students already waiting keep their place.</a:t>
            </a:r>
            <a:endParaRPr lang="en-US" sz="1350" dirty="0"/>
          </a:p>
        </p:txBody>
      </p:sp>
      <p:sp>
        <p:nvSpPr>
          <p:cNvPr id="26" name="Shape 20"/>
          <p:cNvSpPr/>
          <p:nvPr/>
        </p:nvSpPr>
        <p:spPr>
          <a:xfrm>
            <a:off x="7589520" y="5175504"/>
            <a:ext cx="530352" cy="530352"/>
          </a:xfrm>
          <a:prstGeom prst="ellipse">
            <a:avLst/>
          </a:prstGeom>
          <a:solidFill>
            <a:srgbClr val="172033"/>
          </a:solidFill>
          <a:ln w="12700">
            <a:solidFill>
              <a:srgbClr val="172033"/>
            </a:solidFill>
            <a:prstDash val="solid"/>
          </a:ln>
        </p:spPr>
      </p:sp>
      <p:pic>
        <p:nvPicPr>
          <p:cNvPr id="27" name="Image 4" descr="preencoded.png"/>
          <p:cNvPicPr>
            <a:picLocks noChangeAspect="1"/>
          </p:cNvPicPr>
          <p:nvPr/>
        </p:nvPicPr>
        <p:blipFill>
          <a:blip r:embed="rId7"/>
          <a:stretch>
            <a:fillRect/>
          </a:stretch>
        </p:blipFill>
        <p:spPr>
          <a:xfrm>
            <a:off x="7711501" y="5297485"/>
            <a:ext cx="286390" cy="286390"/>
          </a:xfrm>
          <a:prstGeom prst="rect">
            <a:avLst/>
          </a:prstGeom>
        </p:spPr>
      </p:pic>
      <p:sp>
        <p:nvSpPr>
          <p:cNvPr id="28" name="Text 21"/>
          <p:cNvSpPr txBox="1"/>
          <p:nvPr/>
        </p:nvSpPr>
        <p:spPr>
          <a:xfrm>
            <a:off x="8321040" y="5157216"/>
            <a:ext cx="3319272" cy="329184"/>
          </a:xfrm>
          <a:prstGeom prst="rect">
            <a:avLst/>
          </a:prstGeom>
          <a:noFill/>
          <a:ln/>
        </p:spPr>
        <p:txBody>
          <a:bodyPr wrap="square" lIns="0" tIns="0" rIns="0" bIns="0" rtlCol="0" anchor="ctr"/>
          <a:lstStyle/>
          <a:p>
            <a:pPr marL="0" indent="0">
              <a:buNone/>
            </a:pPr>
            <a:r>
              <a:rPr lang="en-US" sz="1800" b="1" dirty="0">
                <a:solidFill>
                  <a:srgbClr val="172033"/>
                </a:solidFill>
                <a:latin typeface="Calibri" pitchFamily="34" charset="0"/>
                <a:ea typeface="Calibri" pitchFamily="34" charset="-122"/>
                <a:cs typeface="Calibri" pitchFamily="34" charset="-120"/>
              </a:rPr>
              <a:t>Live waiting list</a:t>
            </a:r>
            <a:endParaRPr lang="en-US" sz="1800" dirty="0"/>
          </a:p>
        </p:txBody>
      </p:sp>
      <p:sp>
        <p:nvSpPr>
          <p:cNvPr id="29" name="Text 22"/>
          <p:cNvSpPr txBox="1"/>
          <p:nvPr/>
        </p:nvSpPr>
        <p:spPr>
          <a:xfrm>
            <a:off x="8321040" y="5504688"/>
            <a:ext cx="3319272" cy="685800"/>
          </a:xfrm>
          <a:prstGeom prst="rect">
            <a:avLst/>
          </a:prstGeom>
          <a:noFill/>
          <a:ln/>
        </p:spPr>
        <p:txBody>
          <a:bodyPr wrap="square" lIns="0" tIns="0" rIns="0" bIns="0" rtlCol="0" anchor="t"/>
          <a:lstStyle/>
          <a:p>
            <a:pPr marL="0" indent="0">
              <a:buNone/>
            </a:pPr>
            <a:r>
              <a:rPr lang="en-US" sz="1350" dirty="0">
                <a:solidFill>
                  <a:srgbClr val="5A6478"/>
                </a:solidFill>
                <a:latin typeface="Calibri" pitchFamily="34" charset="0"/>
                <a:ea typeface="Calibri" pitchFamily="34" charset="-122"/>
                <a:cs typeface="Calibri" pitchFamily="34" charset="-120"/>
              </a:rPr>
              <a:t>Who is next, what just finished, and today’s numbers.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8"/>
        </a:solidFill>
        <a:effectLst/>
      </p:bgPr>
    </p:bg>
    <p:spTree>
      <p:nvGrpSpPr>
        <p:cNvPr id="1" name=""/>
        <p:cNvGrpSpPr/>
        <p:nvPr/>
      </p:nvGrpSpPr>
      <p:grpSpPr>
        <a:xfrm>
          <a:off x="0" y="0"/>
          <a:ext cx="0" cy="0"/>
          <a:chOff x="0" y="0"/>
          <a:chExt cx="0" cy="0"/>
        </a:xfrm>
      </p:grpSpPr>
      <p:sp>
        <p:nvSpPr>
          <p:cNvPr id="2" name="Shape 0"/>
          <p:cNvSpPr/>
          <p:nvPr/>
        </p:nvSpPr>
        <p:spPr>
          <a:xfrm>
            <a:off x="548640" y="411480"/>
            <a:ext cx="749808" cy="347472"/>
          </a:xfrm>
          <a:prstGeom prst="roundRect">
            <a:avLst>
              <a:gd name="adj" fmla="val 15789"/>
            </a:avLst>
          </a:prstGeom>
          <a:solidFill>
            <a:srgbClr val="F4B400"/>
          </a:solidFill>
          <a:ln w="12700">
            <a:solidFill>
              <a:srgbClr val="F4B400"/>
            </a:solidFill>
            <a:prstDash val="solid"/>
          </a:ln>
        </p:spPr>
      </p:sp>
      <p:sp>
        <p:nvSpPr>
          <p:cNvPr id="3" name="Text 1"/>
          <p:cNvSpPr txBox="1"/>
          <p:nvPr/>
        </p:nvSpPr>
        <p:spPr>
          <a:xfrm>
            <a:off x="548640" y="411480"/>
            <a:ext cx="749808" cy="347472"/>
          </a:xfrm>
          <a:prstGeom prst="rect">
            <a:avLst/>
          </a:prstGeom>
          <a:noFill/>
          <a:ln/>
        </p:spPr>
        <p:txBody>
          <a:bodyPr wrap="square" lIns="0" tIns="0" rIns="0" bIns="0" rtlCol="0" anchor="ctr"/>
          <a:lstStyle/>
          <a:p>
            <a:pPr marL="0" indent="0" algn="ctr">
              <a:buNone/>
            </a:pPr>
            <a:r>
              <a:rPr lang="en-US" sz="1700" dirty="0">
                <a:solidFill>
                  <a:srgbClr val="172033"/>
                </a:solidFill>
                <a:latin typeface="Bahnschrift SemiBold Condensed" pitchFamily="34" charset="0"/>
                <a:ea typeface="Bahnschrift SemiBold Condensed" pitchFamily="34" charset="-122"/>
                <a:cs typeface="Bahnschrift SemiBold Condensed" pitchFamily="34" charset="-120"/>
              </a:rPr>
              <a:t>A006</a:t>
            </a:r>
            <a:endParaRPr lang="en-US" sz="1700" dirty="0"/>
          </a:p>
        </p:txBody>
      </p:sp>
      <p:sp>
        <p:nvSpPr>
          <p:cNvPr id="4" name="Text 2"/>
          <p:cNvSpPr txBox="1"/>
          <p:nvPr/>
        </p:nvSpPr>
        <p:spPr>
          <a:xfrm>
            <a:off x="1444752" y="411480"/>
            <a:ext cx="5486400" cy="347472"/>
          </a:xfrm>
          <a:prstGeom prst="rect">
            <a:avLst/>
          </a:prstGeom>
          <a:noFill/>
          <a:ln/>
        </p:spPr>
        <p:txBody>
          <a:bodyPr wrap="square" lIns="0" tIns="0" rIns="0" bIns="0" rtlCol="0" anchor="ctr"/>
          <a:lstStyle/>
          <a:p>
            <a:pPr marL="0" indent="0">
              <a:buNone/>
            </a:pPr>
            <a:r>
              <a:rPr lang="en-US" sz="1200" b="1" kern="0" spc="300" dirty="0">
                <a:solidFill>
                  <a:srgbClr val="5A6478"/>
                </a:solidFill>
                <a:latin typeface="Calibri" pitchFamily="34" charset="0"/>
                <a:ea typeface="Calibri" pitchFamily="34" charset="-122"/>
                <a:cs typeface="Calibri" pitchFamily="34" charset="-120"/>
              </a:rPr>
              <a:t>INSIGHTS &amp; ADMIN</a:t>
            </a:r>
            <a:endParaRPr lang="en-US" sz="1200" dirty="0"/>
          </a:p>
        </p:txBody>
      </p:sp>
      <p:sp>
        <p:nvSpPr>
          <p:cNvPr id="5" name="Text 3"/>
          <p:cNvSpPr txBox="1"/>
          <p:nvPr/>
        </p:nvSpPr>
        <p:spPr>
          <a:xfrm>
            <a:off x="548640" y="896112"/>
            <a:ext cx="11064240" cy="731520"/>
          </a:xfrm>
          <a:prstGeom prst="rect">
            <a:avLst/>
          </a:prstGeom>
          <a:noFill/>
          <a:ln/>
        </p:spPr>
        <p:txBody>
          <a:bodyPr wrap="square" lIns="0" tIns="0" rIns="0" bIns="0" rtlCol="0" anchor="t"/>
          <a:lstStyle/>
          <a:p>
            <a:pPr marL="0" indent="0">
              <a:buNone/>
            </a:pPr>
            <a:r>
              <a:rPr lang="en-US" sz="3400" dirty="0">
                <a:solidFill>
                  <a:srgbClr val="172033"/>
                </a:solidFill>
                <a:latin typeface="Bahnschrift SemiBold" pitchFamily="34" charset="0"/>
                <a:ea typeface="Bahnschrift SemiBold" pitchFamily="34" charset="-122"/>
                <a:cs typeface="Bahnschrift SemiBold" pitchFamily="34" charset="-120"/>
              </a:rPr>
              <a:t>Numbers for staff, control for admins</a:t>
            </a:r>
            <a:endParaRPr lang="en-US" sz="3400" dirty="0"/>
          </a:p>
        </p:txBody>
      </p:sp>
      <p:sp>
        <p:nvSpPr>
          <p:cNvPr id="6" name="Shape 4"/>
          <p:cNvSpPr/>
          <p:nvPr/>
        </p:nvSpPr>
        <p:spPr>
          <a:xfrm>
            <a:off x="548640" y="1737360"/>
            <a:ext cx="5074920" cy="3961567"/>
          </a:xfrm>
          <a:prstGeom prst="rect">
            <a:avLst/>
          </a:prstGeom>
          <a:solidFill>
            <a:srgbClr val="FFFFFF"/>
          </a:solidFill>
          <a:ln w="9525">
            <a:solidFill>
              <a:srgbClr val="D5DBE3"/>
            </a:solidFill>
            <a:prstDash val="solid"/>
          </a:ln>
          <a:effectLst>
            <a:outerShdw blurRad="203200" dist="63500" dir="5400000" algn="bl" rotWithShape="0">
              <a:srgbClr val="0B1020">
                <a:alpha val="18000"/>
              </a:srgbClr>
            </a:outerShdw>
          </a:effectLst>
        </p:spPr>
      </p:sp>
      <p:sp>
        <p:nvSpPr>
          <p:cNvPr id="7" name="Shape 5"/>
          <p:cNvSpPr/>
          <p:nvPr/>
        </p:nvSpPr>
        <p:spPr>
          <a:xfrm>
            <a:off x="548640" y="1737360"/>
            <a:ext cx="5074920" cy="274320"/>
          </a:xfrm>
          <a:prstGeom prst="rect">
            <a:avLst/>
          </a:prstGeom>
          <a:solidFill>
            <a:srgbClr val="E6EAF0"/>
          </a:solidFill>
          <a:ln w="9525">
            <a:solidFill>
              <a:srgbClr val="D5DBE3"/>
            </a:solidFill>
            <a:prstDash val="solid"/>
          </a:ln>
        </p:spPr>
      </p:sp>
      <p:sp>
        <p:nvSpPr>
          <p:cNvPr id="8" name="Shape 6"/>
          <p:cNvSpPr/>
          <p:nvPr/>
        </p:nvSpPr>
        <p:spPr>
          <a:xfrm>
            <a:off x="667512" y="1828800"/>
            <a:ext cx="91440" cy="91440"/>
          </a:xfrm>
          <a:prstGeom prst="ellipse">
            <a:avLst/>
          </a:prstGeom>
          <a:solidFill>
            <a:srgbClr val="FF5F57"/>
          </a:solidFill>
          <a:ln w="12700">
            <a:solidFill>
              <a:srgbClr val="FF5F57"/>
            </a:solidFill>
            <a:prstDash val="solid"/>
          </a:ln>
        </p:spPr>
      </p:sp>
      <p:sp>
        <p:nvSpPr>
          <p:cNvPr id="9" name="Shape 7"/>
          <p:cNvSpPr/>
          <p:nvPr/>
        </p:nvSpPr>
        <p:spPr>
          <a:xfrm>
            <a:off x="813816" y="1828800"/>
            <a:ext cx="91440" cy="91440"/>
          </a:xfrm>
          <a:prstGeom prst="ellipse">
            <a:avLst/>
          </a:prstGeom>
          <a:solidFill>
            <a:srgbClr val="FEBC2E"/>
          </a:solidFill>
          <a:ln w="12700">
            <a:solidFill>
              <a:srgbClr val="FEBC2E"/>
            </a:solidFill>
            <a:prstDash val="solid"/>
          </a:ln>
        </p:spPr>
      </p:sp>
      <p:sp>
        <p:nvSpPr>
          <p:cNvPr id="10" name="Shape 8"/>
          <p:cNvSpPr/>
          <p:nvPr/>
        </p:nvSpPr>
        <p:spPr>
          <a:xfrm>
            <a:off x="960120" y="1828800"/>
            <a:ext cx="91440" cy="91440"/>
          </a:xfrm>
          <a:prstGeom prst="ellipse">
            <a:avLst/>
          </a:prstGeom>
          <a:solidFill>
            <a:srgbClr val="28C840"/>
          </a:solidFill>
          <a:ln w="12700">
            <a:solidFill>
              <a:srgbClr val="28C840"/>
            </a:solidFill>
            <a:prstDash val="solid"/>
          </a:ln>
        </p:spPr>
      </p:sp>
      <p:sp>
        <p:nvSpPr>
          <p:cNvPr id="11" name="Shape 9"/>
          <p:cNvSpPr/>
          <p:nvPr/>
        </p:nvSpPr>
        <p:spPr>
          <a:xfrm>
            <a:off x="1207008" y="1792224"/>
            <a:ext cx="2926080" cy="164592"/>
          </a:xfrm>
          <a:prstGeom prst="roundRect">
            <a:avLst>
              <a:gd name="adj" fmla="val 27778"/>
            </a:avLst>
          </a:prstGeom>
          <a:solidFill>
            <a:srgbClr val="FFFFFF"/>
          </a:solidFill>
          <a:ln w="12700">
            <a:solidFill>
              <a:srgbClr val="FFFFFF"/>
            </a:solidFill>
            <a:prstDash val="solid"/>
          </a:ln>
        </p:spPr>
      </p:sp>
      <p:sp>
        <p:nvSpPr>
          <p:cNvPr id="12" name="Text 10"/>
          <p:cNvSpPr txBox="1"/>
          <p:nvPr/>
        </p:nvSpPr>
        <p:spPr>
          <a:xfrm>
            <a:off x="1298448" y="1792224"/>
            <a:ext cx="2743200" cy="164592"/>
          </a:xfrm>
          <a:prstGeom prst="rect">
            <a:avLst/>
          </a:prstGeom>
          <a:noFill/>
          <a:ln/>
        </p:spPr>
        <p:txBody>
          <a:bodyPr wrap="square" lIns="0" tIns="0" rIns="0" bIns="0" rtlCol="0" anchor="ctr"/>
          <a:lstStyle/>
          <a:p>
            <a:pPr marL="0" indent="0">
              <a:buNone/>
            </a:pPr>
            <a:r>
              <a:rPr lang="en-US" sz="800" dirty="0">
                <a:solidFill>
                  <a:srgbClr val="5A6478"/>
                </a:solidFill>
                <a:latin typeface="Calibri" pitchFamily="34" charset="0"/>
                <a:ea typeface="Calibri" pitchFamily="34" charset="-122"/>
                <a:cs typeface="Calibri" pitchFamily="34" charset="-120"/>
              </a:rPr>
              <a:t>localhost:5173/staff/services/1/stats</a:t>
            </a:r>
            <a:endParaRPr lang="en-US" sz="800" dirty="0"/>
          </a:p>
        </p:txBody>
      </p:sp>
      <p:pic>
        <p:nvPicPr>
          <p:cNvPr id="13" name="Image 0" descr="C:\Users\Parnavi\AppData\Local\Temp\claude\C--Users-Parnavi-Downloads-files-campusq-campusq\95c25616-eec3-4b7f-853a-47da81de960f\scratchpad\deck\shots\stats.png"/>
          <p:cNvPicPr>
            <a:picLocks noChangeAspect="1"/>
          </p:cNvPicPr>
          <p:nvPr/>
        </p:nvPicPr>
        <p:blipFill>
          <a:blip r:embed="rId3"/>
          <a:stretch>
            <a:fillRect/>
          </a:stretch>
        </p:blipFill>
        <p:spPr>
          <a:xfrm>
            <a:off x="548640" y="2011680"/>
            <a:ext cx="5074920" cy="3687247"/>
          </a:xfrm>
          <a:prstGeom prst="rect">
            <a:avLst/>
          </a:prstGeom>
        </p:spPr>
      </p:pic>
      <p:sp>
        <p:nvSpPr>
          <p:cNvPr id="14" name="Text 11"/>
          <p:cNvSpPr txBox="1"/>
          <p:nvPr/>
        </p:nvSpPr>
        <p:spPr>
          <a:xfrm>
            <a:off x="548640" y="5836087"/>
            <a:ext cx="5074920" cy="274320"/>
          </a:xfrm>
          <a:prstGeom prst="rect">
            <a:avLst/>
          </a:prstGeom>
          <a:noFill/>
          <a:ln/>
        </p:spPr>
        <p:txBody>
          <a:bodyPr wrap="square" lIns="0" tIns="0" rIns="0" bIns="0" rtlCol="0" anchor="t"/>
          <a:lstStyle/>
          <a:p>
            <a:pPr marL="0" indent="0">
              <a:buNone/>
            </a:pPr>
            <a:r>
              <a:rPr lang="en-US" sz="1200" i="1" dirty="0">
                <a:solidFill>
                  <a:srgbClr val="5A6478"/>
                </a:solidFill>
                <a:latin typeface="Calibri" pitchFamily="34" charset="0"/>
                <a:ea typeface="Calibri" pitchFamily="34" charset="-122"/>
                <a:cs typeface="Calibri" pitchFamily="34" charset="-120"/>
              </a:rPr>
              <a:t>Live per-counter statistics with a 7-day chart.</a:t>
            </a:r>
            <a:endParaRPr lang="en-US" sz="1200" dirty="0"/>
          </a:p>
        </p:txBody>
      </p:sp>
      <p:sp>
        <p:nvSpPr>
          <p:cNvPr id="15" name="Shape 12"/>
          <p:cNvSpPr/>
          <p:nvPr/>
        </p:nvSpPr>
        <p:spPr>
          <a:xfrm>
            <a:off x="5973775" y="1737360"/>
            <a:ext cx="5669280" cy="3219688"/>
          </a:xfrm>
          <a:prstGeom prst="rect">
            <a:avLst/>
          </a:prstGeom>
          <a:solidFill>
            <a:srgbClr val="FFFFFF"/>
          </a:solidFill>
          <a:ln w="9525">
            <a:solidFill>
              <a:srgbClr val="D5DBE3"/>
            </a:solidFill>
            <a:prstDash val="solid"/>
          </a:ln>
          <a:effectLst>
            <a:outerShdw blurRad="203200" dist="63500" dir="5400000" algn="bl" rotWithShape="0">
              <a:srgbClr val="0B1020">
                <a:alpha val="18000"/>
              </a:srgbClr>
            </a:outerShdw>
          </a:effectLst>
        </p:spPr>
      </p:sp>
      <p:sp>
        <p:nvSpPr>
          <p:cNvPr id="16" name="Shape 13"/>
          <p:cNvSpPr/>
          <p:nvPr/>
        </p:nvSpPr>
        <p:spPr>
          <a:xfrm>
            <a:off x="5973775" y="1737360"/>
            <a:ext cx="5669280" cy="274320"/>
          </a:xfrm>
          <a:prstGeom prst="rect">
            <a:avLst/>
          </a:prstGeom>
          <a:solidFill>
            <a:srgbClr val="E6EAF0"/>
          </a:solidFill>
          <a:ln w="9525">
            <a:solidFill>
              <a:srgbClr val="D5DBE3"/>
            </a:solidFill>
            <a:prstDash val="solid"/>
          </a:ln>
        </p:spPr>
      </p:sp>
      <p:sp>
        <p:nvSpPr>
          <p:cNvPr id="17" name="Shape 14"/>
          <p:cNvSpPr/>
          <p:nvPr/>
        </p:nvSpPr>
        <p:spPr>
          <a:xfrm>
            <a:off x="6092647" y="1828800"/>
            <a:ext cx="91440" cy="91440"/>
          </a:xfrm>
          <a:prstGeom prst="ellipse">
            <a:avLst/>
          </a:prstGeom>
          <a:solidFill>
            <a:srgbClr val="FF5F57"/>
          </a:solidFill>
          <a:ln w="12700">
            <a:solidFill>
              <a:srgbClr val="FF5F57"/>
            </a:solidFill>
            <a:prstDash val="solid"/>
          </a:ln>
        </p:spPr>
      </p:sp>
      <p:sp>
        <p:nvSpPr>
          <p:cNvPr id="18" name="Shape 15"/>
          <p:cNvSpPr/>
          <p:nvPr/>
        </p:nvSpPr>
        <p:spPr>
          <a:xfrm>
            <a:off x="6238951" y="1828800"/>
            <a:ext cx="91440" cy="91440"/>
          </a:xfrm>
          <a:prstGeom prst="ellipse">
            <a:avLst/>
          </a:prstGeom>
          <a:solidFill>
            <a:srgbClr val="FEBC2E"/>
          </a:solidFill>
          <a:ln w="12700">
            <a:solidFill>
              <a:srgbClr val="FEBC2E"/>
            </a:solidFill>
            <a:prstDash val="solid"/>
          </a:ln>
        </p:spPr>
      </p:sp>
      <p:sp>
        <p:nvSpPr>
          <p:cNvPr id="19" name="Shape 16"/>
          <p:cNvSpPr/>
          <p:nvPr/>
        </p:nvSpPr>
        <p:spPr>
          <a:xfrm>
            <a:off x="6385255" y="1828800"/>
            <a:ext cx="91440" cy="91440"/>
          </a:xfrm>
          <a:prstGeom prst="ellipse">
            <a:avLst/>
          </a:prstGeom>
          <a:solidFill>
            <a:srgbClr val="28C840"/>
          </a:solidFill>
          <a:ln w="12700">
            <a:solidFill>
              <a:srgbClr val="28C840"/>
            </a:solidFill>
            <a:prstDash val="solid"/>
          </a:ln>
        </p:spPr>
      </p:sp>
      <p:sp>
        <p:nvSpPr>
          <p:cNvPr id="20" name="Shape 17"/>
          <p:cNvSpPr/>
          <p:nvPr/>
        </p:nvSpPr>
        <p:spPr>
          <a:xfrm>
            <a:off x="6632143" y="1792224"/>
            <a:ext cx="2926080" cy="164592"/>
          </a:xfrm>
          <a:prstGeom prst="roundRect">
            <a:avLst>
              <a:gd name="adj" fmla="val 27778"/>
            </a:avLst>
          </a:prstGeom>
          <a:solidFill>
            <a:srgbClr val="FFFFFF"/>
          </a:solidFill>
          <a:ln w="12700">
            <a:solidFill>
              <a:srgbClr val="FFFFFF"/>
            </a:solidFill>
            <a:prstDash val="solid"/>
          </a:ln>
        </p:spPr>
      </p:sp>
      <p:sp>
        <p:nvSpPr>
          <p:cNvPr id="21" name="Text 18"/>
          <p:cNvSpPr txBox="1"/>
          <p:nvPr/>
        </p:nvSpPr>
        <p:spPr>
          <a:xfrm>
            <a:off x="6723583" y="1792224"/>
            <a:ext cx="2743200" cy="164592"/>
          </a:xfrm>
          <a:prstGeom prst="rect">
            <a:avLst/>
          </a:prstGeom>
          <a:noFill/>
          <a:ln/>
        </p:spPr>
        <p:txBody>
          <a:bodyPr wrap="square" lIns="0" tIns="0" rIns="0" bIns="0" rtlCol="0" anchor="ctr"/>
          <a:lstStyle/>
          <a:p>
            <a:pPr marL="0" indent="0">
              <a:buNone/>
            </a:pPr>
            <a:r>
              <a:rPr lang="en-US" sz="800" dirty="0">
                <a:solidFill>
                  <a:srgbClr val="5A6478"/>
                </a:solidFill>
                <a:latin typeface="Calibri" pitchFamily="34" charset="0"/>
                <a:ea typeface="Calibri" pitchFamily="34" charset="-122"/>
                <a:cs typeface="Calibri" pitchFamily="34" charset="-120"/>
              </a:rPr>
              <a:t>localhost:5173/admin/services</a:t>
            </a:r>
            <a:endParaRPr lang="en-US" sz="800" dirty="0"/>
          </a:p>
        </p:txBody>
      </p:sp>
      <p:pic>
        <p:nvPicPr>
          <p:cNvPr id="22" name="Image 1" descr="C:\Users\Parnavi\AppData\Local\Temp\claude\C--Users-Parnavi-Downloads-files-campusq-campusq\95c25616-eec3-4b7f-853a-47da81de960f\scratchpad\deck\shots\admin-services.png"/>
          <p:cNvPicPr>
            <a:picLocks noChangeAspect="1"/>
          </p:cNvPicPr>
          <p:nvPr/>
        </p:nvPicPr>
        <p:blipFill>
          <a:blip r:embed="rId4"/>
          <a:stretch>
            <a:fillRect/>
          </a:stretch>
        </p:blipFill>
        <p:spPr>
          <a:xfrm>
            <a:off x="5973775" y="2011680"/>
            <a:ext cx="5669280" cy="2945368"/>
          </a:xfrm>
          <a:prstGeom prst="rect">
            <a:avLst/>
          </a:prstGeom>
        </p:spPr>
      </p:pic>
      <p:sp>
        <p:nvSpPr>
          <p:cNvPr id="23" name="Text 19"/>
          <p:cNvSpPr txBox="1"/>
          <p:nvPr/>
        </p:nvSpPr>
        <p:spPr>
          <a:xfrm>
            <a:off x="5973775" y="5231368"/>
            <a:ext cx="5669280" cy="320040"/>
          </a:xfrm>
          <a:prstGeom prst="rect">
            <a:avLst/>
          </a:prstGeom>
          <a:noFill/>
          <a:ln/>
        </p:spPr>
        <p:txBody>
          <a:bodyPr wrap="square" lIns="0" tIns="0" rIns="0" bIns="0" rtlCol="0" anchor="ctr"/>
          <a:lstStyle/>
          <a:p>
            <a:pPr marL="0" indent="0">
              <a:buNone/>
            </a:pPr>
            <a:r>
              <a:rPr lang="en-US" sz="1600" b="1" dirty="0">
                <a:solidFill>
                  <a:srgbClr val="172033"/>
                </a:solidFill>
                <a:latin typeface="Calibri" pitchFamily="34" charset="0"/>
                <a:ea typeface="Calibri" pitchFamily="34" charset="-122"/>
                <a:cs typeface="Calibri" pitchFamily="34" charset="-120"/>
              </a:rPr>
              <a:t>Admins can</a:t>
            </a:r>
            <a:endParaRPr lang="en-US" sz="1600" dirty="0"/>
          </a:p>
        </p:txBody>
      </p:sp>
      <p:sp>
        <p:nvSpPr>
          <p:cNvPr id="24" name="Text 20"/>
          <p:cNvSpPr txBox="1"/>
          <p:nvPr/>
        </p:nvSpPr>
        <p:spPr>
          <a:xfrm>
            <a:off x="5973775" y="5597128"/>
            <a:ext cx="5669280" cy="109728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3D4759"/>
                </a:solidFill>
                <a:latin typeface="Calibri" pitchFamily="34" charset="0"/>
                <a:ea typeface="Calibri" pitchFamily="34" charset="-122"/>
                <a:cs typeface="Calibri" pitchFamily="34" charset="-120"/>
              </a:rPr>
              <a:t>Create counters with their own token prefix (A001, H001 …)</a:t>
            </a:r>
            <a:endParaRPr lang="en-US" sz="1450" dirty="0"/>
          </a:p>
          <a:p>
            <a:pPr marL="203200" indent="-203200">
              <a:spcAft>
                <a:spcPts val="600"/>
              </a:spcAft>
              <a:buSzPct val="100000"/>
              <a:buChar char="•"/>
            </a:pPr>
            <a:r>
              <a:rPr lang="en-US" sz="1450" dirty="0">
                <a:solidFill>
                  <a:srgbClr val="3D4759"/>
                </a:solidFill>
                <a:latin typeface="Calibri" pitchFamily="34" charset="0"/>
                <a:ea typeface="Calibri" pitchFamily="34" charset="-122"/>
                <a:cs typeface="Calibri" pitchFamily="34" charset="-120"/>
              </a:rPr>
              <a:t>Open, pause or close any counter</a:t>
            </a:r>
            <a:endParaRPr lang="en-US" sz="1450" dirty="0"/>
          </a:p>
          <a:p>
            <a:pPr marL="203200" indent="-203200">
              <a:spcAft>
                <a:spcPts val="600"/>
              </a:spcAft>
              <a:buSzPct val="100000"/>
              <a:buChar char="•"/>
            </a:pPr>
            <a:r>
              <a:rPr lang="en-US" sz="1450" dirty="0">
                <a:solidFill>
                  <a:srgbClr val="3D4759"/>
                </a:solidFill>
                <a:latin typeface="Calibri" pitchFamily="34" charset="0"/>
                <a:ea typeface="Calibri" pitchFamily="34" charset="-122"/>
                <a:cs typeface="Calibri" pitchFamily="34" charset="-120"/>
              </a:rPr>
              <a:t>Create staff logins and assign each person to their counters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2033"/>
        </a:solidFill>
        <a:effectLst/>
      </p:bgPr>
    </p:bg>
    <p:spTree>
      <p:nvGrpSpPr>
        <p:cNvPr id="1" name=""/>
        <p:cNvGrpSpPr/>
        <p:nvPr/>
      </p:nvGrpSpPr>
      <p:grpSpPr>
        <a:xfrm>
          <a:off x="0" y="0"/>
          <a:ext cx="0" cy="0"/>
          <a:chOff x="0" y="0"/>
          <a:chExt cx="0" cy="0"/>
        </a:xfrm>
      </p:grpSpPr>
      <p:sp>
        <p:nvSpPr>
          <p:cNvPr id="2" name="Shape 0"/>
          <p:cNvSpPr/>
          <p:nvPr/>
        </p:nvSpPr>
        <p:spPr>
          <a:xfrm>
            <a:off x="548640" y="411480"/>
            <a:ext cx="749808" cy="347472"/>
          </a:xfrm>
          <a:prstGeom prst="roundRect">
            <a:avLst>
              <a:gd name="adj" fmla="val 15789"/>
            </a:avLst>
          </a:prstGeom>
          <a:solidFill>
            <a:srgbClr val="F4B400"/>
          </a:solidFill>
          <a:ln w="12700">
            <a:solidFill>
              <a:srgbClr val="F4B400"/>
            </a:solidFill>
            <a:prstDash val="solid"/>
          </a:ln>
        </p:spPr>
      </p:sp>
      <p:sp>
        <p:nvSpPr>
          <p:cNvPr id="3" name="Text 1"/>
          <p:cNvSpPr txBox="1"/>
          <p:nvPr/>
        </p:nvSpPr>
        <p:spPr>
          <a:xfrm>
            <a:off x="548640" y="411480"/>
            <a:ext cx="749808" cy="347472"/>
          </a:xfrm>
          <a:prstGeom prst="rect">
            <a:avLst/>
          </a:prstGeom>
          <a:noFill/>
          <a:ln/>
        </p:spPr>
        <p:txBody>
          <a:bodyPr wrap="square" lIns="0" tIns="0" rIns="0" bIns="0" rtlCol="0" anchor="ctr"/>
          <a:lstStyle/>
          <a:p>
            <a:pPr marL="0" indent="0" algn="ctr">
              <a:buNone/>
            </a:pPr>
            <a:r>
              <a:rPr lang="en-US" sz="1700" dirty="0">
                <a:solidFill>
                  <a:srgbClr val="172033"/>
                </a:solidFill>
                <a:latin typeface="Bahnschrift SemiBold Condensed" pitchFamily="34" charset="0"/>
                <a:ea typeface="Bahnschrift SemiBold Condensed" pitchFamily="34" charset="-122"/>
                <a:cs typeface="Bahnschrift SemiBold Condensed" pitchFamily="34" charset="-120"/>
              </a:rPr>
              <a:t>A007</a:t>
            </a:r>
            <a:endParaRPr lang="en-US" sz="1700" dirty="0"/>
          </a:p>
        </p:txBody>
      </p:sp>
      <p:sp>
        <p:nvSpPr>
          <p:cNvPr id="4" name="Text 2"/>
          <p:cNvSpPr txBox="1"/>
          <p:nvPr/>
        </p:nvSpPr>
        <p:spPr>
          <a:xfrm>
            <a:off x="1444752" y="411480"/>
            <a:ext cx="5486400" cy="347472"/>
          </a:xfrm>
          <a:prstGeom prst="rect">
            <a:avLst/>
          </a:prstGeom>
          <a:noFill/>
          <a:ln/>
        </p:spPr>
        <p:txBody>
          <a:bodyPr wrap="square" lIns="0" tIns="0" rIns="0" bIns="0" rtlCol="0" anchor="ctr"/>
          <a:lstStyle/>
          <a:p>
            <a:pPr marL="0" indent="0">
              <a:buNone/>
            </a:pPr>
            <a:r>
              <a:rPr lang="en-US" sz="1200" b="1" kern="0" spc="300" dirty="0">
                <a:solidFill>
                  <a:srgbClr val="9AA6BC"/>
                </a:solidFill>
                <a:latin typeface="Calibri" pitchFamily="34" charset="0"/>
                <a:ea typeface="Calibri" pitchFamily="34" charset="-122"/>
                <a:cs typeface="Calibri" pitchFamily="34" charset="-120"/>
              </a:rPr>
              <a:t>SMART WAIT TIMES</a:t>
            </a:r>
            <a:endParaRPr lang="en-US" sz="1200" dirty="0"/>
          </a:p>
        </p:txBody>
      </p:sp>
      <p:sp>
        <p:nvSpPr>
          <p:cNvPr id="5" name="Text 3"/>
          <p:cNvSpPr txBox="1"/>
          <p:nvPr/>
        </p:nvSpPr>
        <p:spPr>
          <a:xfrm>
            <a:off x="548640" y="896112"/>
            <a:ext cx="11064240" cy="731520"/>
          </a:xfrm>
          <a:prstGeom prst="rect">
            <a:avLst/>
          </a:prstGeom>
          <a:noFill/>
          <a:ln/>
        </p:spPr>
        <p:txBody>
          <a:bodyPr wrap="square" lIns="0" tIns="0" rIns="0" bIns="0" rtlCol="0" anchor="t"/>
          <a:lstStyle/>
          <a:p>
            <a:pPr marL="0" indent="0">
              <a:buNone/>
            </a:pPr>
            <a:r>
              <a:rPr lang="en-US" sz="3400" dirty="0">
                <a:solidFill>
                  <a:srgbClr val="FFFFFF"/>
                </a:solidFill>
                <a:latin typeface="Bahnschrift SemiBold" pitchFamily="34" charset="0"/>
                <a:ea typeface="Bahnschrift SemiBold" pitchFamily="34" charset="-122"/>
                <a:cs typeface="Bahnschrift SemiBold" pitchFamily="34" charset="-120"/>
              </a:rPr>
              <a:t>Wait times that learn from the counter</a:t>
            </a:r>
            <a:endParaRPr lang="en-US" sz="3400" dirty="0"/>
          </a:p>
        </p:txBody>
      </p:sp>
      <p:sp>
        <p:nvSpPr>
          <p:cNvPr id="6" name="Shape 4"/>
          <p:cNvSpPr/>
          <p:nvPr/>
        </p:nvSpPr>
        <p:spPr>
          <a:xfrm>
            <a:off x="548640" y="1965960"/>
            <a:ext cx="1783080" cy="1234440"/>
          </a:xfrm>
          <a:prstGeom prst="roundRect">
            <a:avLst>
              <a:gd name="adj" fmla="val 7407"/>
            </a:avLst>
          </a:prstGeom>
          <a:solidFill>
            <a:srgbClr val="F4B400"/>
          </a:solidFill>
          <a:ln w="12700">
            <a:solidFill>
              <a:srgbClr val="F4B400"/>
            </a:solidFill>
            <a:prstDash val="solid"/>
          </a:ln>
        </p:spPr>
      </p:sp>
      <p:sp>
        <p:nvSpPr>
          <p:cNvPr id="7" name="Text 5"/>
          <p:cNvSpPr txBox="1"/>
          <p:nvPr/>
        </p:nvSpPr>
        <p:spPr>
          <a:xfrm>
            <a:off x="731520" y="2084832"/>
            <a:ext cx="1463040" cy="228600"/>
          </a:xfrm>
          <a:prstGeom prst="rect">
            <a:avLst/>
          </a:prstGeom>
          <a:noFill/>
          <a:ln/>
        </p:spPr>
        <p:txBody>
          <a:bodyPr wrap="square" lIns="0" tIns="0" rIns="0" bIns="0" rtlCol="0" anchor="ctr"/>
          <a:lstStyle/>
          <a:p>
            <a:pPr marL="0" indent="0">
              <a:buNone/>
            </a:pPr>
            <a:r>
              <a:rPr lang="en-US" sz="1000" b="1" kern="0" spc="200" dirty="0">
                <a:solidFill>
                  <a:srgbClr val="172033"/>
                </a:solidFill>
                <a:latin typeface="Calibri" pitchFamily="34" charset="0"/>
                <a:ea typeface="Calibri" pitchFamily="34" charset="-122"/>
                <a:cs typeface="Calibri" pitchFamily="34" charset="-120"/>
              </a:rPr>
              <a:t>SERVING</a:t>
            </a:r>
            <a:endParaRPr lang="en-US" sz="1000" dirty="0"/>
          </a:p>
        </p:txBody>
      </p:sp>
      <p:sp>
        <p:nvSpPr>
          <p:cNvPr id="8" name="Text 6"/>
          <p:cNvSpPr txBox="1"/>
          <p:nvPr/>
        </p:nvSpPr>
        <p:spPr>
          <a:xfrm>
            <a:off x="731520" y="2286000"/>
            <a:ext cx="1463040" cy="777240"/>
          </a:xfrm>
          <a:prstGeom prst="rect">
            <a:avLst/>
          </a:prstGeom>
          <a:noFill/>
          <a:ln/>
        </p:spPr>
        <p:txBody>
          <a:bodyPr wrap="square" lIns="0" tIns="0" rIns="0" bIns="0" rtlCol="0" anchor="ctr"/>
          <a:lstStyle/>
          <a:p>
            <a:pPr marL="0" indent="0">
              <a:buNone/>
            </a:pPr>
            <a:r>
              <a:rPr lang="en-US" sz="4400" dirty="0">
                <a:solidFill>
                  <a:srgbClr val="172033"/>
                </a:solidFill>
                <a:latin typeface="Bahnschrift SemiBold Condensed" pitchFamily="34" charset="0"/>
                <a:ea typeface="Bahnschrift SemiBold Condensed" pitchFamily="34" charset="-122"/>
                <a:cs typeface="Bahnschrift SemiBold Condensed" pitchFamily="34" charset="-120"/>
              </a:rPr>
              <a:t>A021</a:t>
            </a:r>
            <a:endParaRPr lang="en-US" sz="4400" dirty="0"/>
          </a:p>
        </p:txBody>
      </p:sp>
      <p:sp>
        <p:nvSpPr>
          <p:cNvPr id="9" name="Shape 7"/>
          <p:cNvSpPr/>
          <p:nvPr/>
        </p:nvSpPr>
        <p:spPr>
          <a:xfrm>
            <a:off x="2560320" y="1965960"/>
            <a:ext cx="1783080" cy="1234440"/>
          </a:xfrm>
          <a:prstGeom prst="roundRect">
            <a:avLst>
              <a:gd name="adj" fmla="val 7407"/>
            </a:avLst>
          </a:prstGeom>
          <a:solidFill>
            <a:srgbClr val="24304A"/>
          </a:solidFill>
          <a:ln w="12700">
            <a:solidFill>
              <a:srgbClr val="3A4760"/>
            </a:solidFill>
            <a:prstDash val="solid"/>
          </a:ln>
        </p:spPr>
      </p:sp>
      <p:sp>
        <p:nvSpPr>
          <p:cNvPr id="10" name="Text 8"/>
          <p:cNvSpPr txBox="1"/>
          <p:nvPr/>
        </p:nvSpPr>
        <p:spPr>
          <a:xfrm>
            <a:off x="2743200" y="2084832"/>
            <a:ext cx="1463040" cy="228600"/>
          </a:xfrm>
          <a:prstGeom prst="rect">
            <a:avLst/>
          </a:prstGeom>
          <a:noFill/>
          <a:ln/>
        </p:spPr>
        <p:txBody>
          <a:bodyPr wrap="square" lIns="0" tIns="0" rIns="0" bIns="0" rtlCol="0" anchor="ctr"/>
          <a:lstStyle/>
          <a:p>
            <a:pPr marL="0" indent="0">
              <a:buNone/>
            </a:pPr>
            <a:r>
              <a:rPr lang="en-US" sz="1000" b="1" kern="0" spc="200" dirty="0">
                <a:solidFill>
                  <a:srgbClr val="9AA6BC"/>
                </a:solidFill>
                <a:latin typeface="Calibri" pitchFamily="34" charset="0"/>
                <a:ea typeface="Calibri" pitchFamily="34" charset="-122"/>
                <a:cs typeface="Calibri" pitchFamily="34" charset="-120"/>
              </a:rPr>
              <a:t>WAITING</a:t>
            </a:r>
            <a:endParaRPr lang="en-US" sz="1000" dirty="0"/>
          </a:p>
        </p:txBody>
      </p:sp>
      <p:sp>
        <p:nvSpPr>
          <p:cNvPr id="11" name="Text 9"/>
          <p:cNvSpPr txBox="1"/>
          <p:nvPr/>
        </p:nvSpPr>
        <p:spPr>
          <a:xfrm>
            <a:off x="2743200" y="2286000"/>
            <a:ext cx="1463040" cy="777240"/>
          </a:xfrm>
          <a:prstGeom prst="rect">
            <a:avLst/>
          </a:prstGeom>
          <a:noFill/>
          <a:ln/>
        </p:spPr>
        <p:txBody>
          <a:bodyPr wrap="square" lIns="0" tIns="0" rIns="0" bIns="0" rtlCol="0" anchor="ctr"/>
          <a:lstStyle/>
          <a:p>
            <a:pPr marL="0" indent="0">
              <a:buNone/>
            </a:pPr>
            <a:r>
              <a:rPr lang="en-US" sz="4400" dirty="0">
                <a:solidFill>
                  <a:srgbClr val="FFFFFF"/>
                </a:solidFill>
                <a:latin typeface="Bahnschrift SemiBold Condensed" pitchFamily="34" charset="0"/>
                <a:ea typeface="Bahnschrift SemiBold Condensed" pitchFamily="34" charset="-122"/>
                <a:cs typeface="Bahnschrift SemiBold Condensed" pitchFamily="34" charset="-120"/>
              </a:rPr>
              <a:t>A022</a:t>
            </a:r>
            <a:endParaRPr lang="en-US" sz="4400" dirty="0"/>
          </a:p>
        </p:txBody>
      </p:sp>
      <p:sp>
        <p:nvSpPr>
          <p:cNvPr id="12" name="Shape 10"/>
          <p:cNvSpPr/>
          <p:nvPr/>
        </p:nvSpPr>
        <p:spPr>
          <a:xfrm>
            <a:off x="4572000" y="1965960"/>
            <a:ext cx="1783080" cy="1234440"/>
          </a:xfrm>
          <a:prstGeom prst="roundRect">
            <a:avLst>
              <a:gd name="adj" fmla="val 7407"/>
            </a:avLst>
          </a:prstGeom>
          <a:solidFill>
            <a:srgbClr val="24304A"/>
          </a:solidFill>
          <a:ln w="12700">
            <a:solidFill>
              <a:srgbClr val="3A4760"/>
            </a:solidFill>
            <a:prstDash val="solid"/>
          </a:ln>
        </p:spPr>
      </p:sp>
      <p:sp>
        <p:nvSpPr>
          <p:cNvPr id="13" name="Text 11"/>
          <p:cNvSpPr txBox="1"/>
          <p:nvPr/>
        </p:nvSpPr>
        <p:spPr>
          <a:xfrm>
            <a:off x="4754880" y="2084832"/>
            <a:ext cx="1463040" cy="228600"/>
          </a:xfrm>
          <a:prstGeom prst="rect">
            <a:avLst/>
          </a:prstGeom>
          <a:noFill/>
          <a:ln/>
        </p:spPr>
        <p:txBody>
          <a:bodyPr wrap="square" lIns="0" tIns="0" rIns="0" bIns="0" rtlCol="0" anchor="ctr"/>
          <a:lstStyle/>
          <a:p>
            <a:pPr marL="0" indent="0">
              <a:buNone/>
            </a:pPr>
            <a:r>
              <a:rPr lang="en-US" sz="1000" b="1" kern="0" spc="200" dirty="0">
                <a:solidFill>
                  <a:srgbClr val="9AA6BC"/>
                </a:solidFill>
                <a:latin typeface="Calibri" pitchFamily="34" charset="0"/>
                <a:ea typeface="Calibri" pitchFamily="34" charset="-122"/>
                <a:cs typeface="Calibri" pitchFamily="34" charset="-120"/>
              </a:rPr>
              <a:t>WAITING</a:t>
            </a:r>
            <a:endParaRPr lang="en-US" sz="1000" dirty="0"/>
          </a:p>
        </p:txBody>
      </p:sp>
      <p:sp>
        <p:nvSpPr>
          <p:cNvPr id="14" name="Text 12"/>
          <p:cNvSpPr txBox="1"/>
          <p:nvPr/>
        </p:nvSpPr>
        <p:spPr>
          <a:xfrm>
            <a:off x="4754880" y="2286000"/>
            <a:ext cx="1463040" cy="777240"/>
          </a:xfrm>
          <a:prstGeom prst="rect">
            <a:avLst/>
          </a:prstGeom>
          <a:noFill/>
          <a:ln/>
        </p:spPr>
        <p:txBody>
          <a:bodyPr wrap="square" lIns="0" tIns="0" rIns="0" bIns="0" rtlCol="0" anchor="ctr"/>
          <a:lstStyle/>
          <a:p>
            <a:pPr marL="0" indent="0">
              <a:buNone/>
            </a:pPr>
            <a:r>
              <a:rPr lang="en-US" sz="4400" dirty="0">
                <a:solidFill>
                  <a:srgbClr val="FFFFFF"/>
                </a:solidFill>
                <a:latin typeface="Bahnschrift SemiBold Condensed" pitchFamily="34" charset="0"/>
                <a:ea typeface="Bahnschrift SemiBold Condensed" pitchFamily="34" charset="-122"/>
                <a:cs typeface="Bahnschrift SemiBold Condensed" pitchFamily="34" charset="-120"/>
              </a:rPr>
              <a:t>A023</a:t>
            </a:r>
            <a:endParaRPr lang="en-US" sz="4400" dirty="0"/>
          </a:p>
        </p:txBody>
      </p:sp>
      <p:sp>
        <p:nvSpPr>
          <p:cNvPr id="15" name="Shape 13"/>
          <p:cNvSpPr/>
          <p:nvPr/>
        </p:nvSpPr>
        <p:spPr>
          <a:xfrm>
            <a:off x="6583680" y="2587752"/>
            <a:ext cx="822960" cy="0"/>
          </a:xfrm>
          <a:prstGeom prst="line">
            <a:avLst/>
          </a:prstGeom>
          <a:noFill/>
          <a:ln w="25400">
            <a:solidFill>
              <a:srgbClr val="9AA6BC"/>
            </a:solidFill>
            <a:prstDash val="solid"/>
            <a:tailEnd type="triangle"/>
          </a:ln>
        </p:spPr>
      </p:sp>
      <p:sp>
        <p:nvSpPr>
          <p:cNvPr id="16" name="Shape 14"/>
          <p:cNvSpPr/>
          <p:nvPr/>
        </p:nvSpPr>
        <p:spPr>
          <a:xfrm>
            <a:off x="7635240" y="1965960"/>
            <a:ext cx="1783080" cy="1234440"/>
          </a:xfrm>
          <a:prstGeom prst="roundRect">
            <a:avLst>
              <a:gd name="adj" fmla="val 7407"/>
            </a:avLst>
          </a:prstGeom>
          <a:solidFill>
            <a:srgbClr val="172033"/>
          </a:solidFill>
          <a:ln w="31750">
            <a:solidFill>
              <a:srgbClr val="F4B400"/>
            </a:solidFill>
            <a:prstDash val="solid"/>
          </a:ln>
        </p:spPr>
      </p:sp>
      <p:sp>
        <p:nvSpPr>
          <p:cNvPr id="17" name="Text 15"/>
          <p:cNvSpPr txBox="1"/>
          <p:nvPr/>
        </p:nvSpPr>
        <p:spPr>
          <a:xfrm>
            <a:off x="7818120" y="2084832"/>
            <a:ext cx="1463040" cy="228600"/>
          </a:xfrm>
          <a:prstGeom prst="rect">
            <a:avLst/>
          </a:prstGeom>
          <a:noFill/>
          <a:ln/>
        </p:spPr>
        <p:txBody>
          <a:bodyPr wrap="square" lIns="0" tIns="0" rIns="0" bIns="0" rtlCol="0" anchor="ctr"/>
          <a:lstStyle/>
          <a:p>
            <a:pPr marL="0" indent="0">
              <a:buNone/>
            </a:pPr>
            <a:r>
              <a:rPr lang="en-US" sz="1000" b="1" kern="0" spc="200" dirty="0">
                <a:solidFill>
                  <a:srgbClr val="F4B400"/>
                </a:solidFill>
                <a:latin typeface="Calibri" pitchFamily="34" charset="0"/>
                <a:ea typeface="Calibri" pitchFamily="34" charset="-122"/>
                <a:cs typeface="Calibri" pitchFamily="34" charset="-120"/>
              </a:rPr>
              <a:t>YOU JOIN</a:t>
            </a:r>
            <a:endParaRPr lang="en-US" sz="1000" dirty="0"/>
          </a:p>
        </p:txBody>
      </p:sp>
      <p:sp>
        <p:nvSpPr>
          <p:cNvPr id="18" name="Text 16"/>
          <p:cNvSpPr txBox="1"/>
          <p:nvPr/>
        </p:nvSpPr>
        <p:spPr>
          <a:xfrm>
            <a:off x="7818120" y="2286000"/>
            <a:ext cx="1463040" cy="777240"/>
          </a:xfrm>
          <a:prstGeom prst="rect">
            <a:avLst/>
          </a:prstGeom>
          <a:noFill/>
          <a:ln/>
        </p:spPr>
        <p:txBody>
          <a:bodyPr wrap="square" lIns="0" tIns="0" rIns="0" bIns="0" rtlCol="0" anchor="ctr"/>
          <a:lstStyle/>
          <a:p>
            <a:pPr marL="0" indent="0">
              <a:buNone/>
            </a:pPr>
            <a:r>
              <a:rPr lang="en-US" sz="4400" dirty="0">
                <a:solidFill>
                  <a:srgbClr val="F4B400"/>
                </a:solidFill>
                <a:latin typeface="Bahnschrift SemiBold Condensed" pitchFamily="34" charset="0"/>
                <a:ea typeface="Bahnschrift SemiBold Condensed" pitchFamily="34" charset="-122"/>
                <a:cs typeface="Bahnschrift SemiBold Condensed" pitchFamily="34" charset="-120"/>
              </a:rPr>
              <a:t>A024</a:t>
            </a:r>
            <a:endParaRPr lang="en-US" sz="4400" dirty="0"/>
          </a:p>
        </p:txBody>
      </p:sp>
      <p:sp>
        <p:nvSpPr>
          <p:cNvPr id="19" name="Shape 17"/>
          <p:cNvSpPr/>
          <p:nvPr/>
        </p:nvSpPr>
        <p:spPr>
          <a:xfrm>
            <a:off x="548640" y="3401568"/>
            <a:ext cx="5806440" cy="0"/>
          </a:xfrm>
          <a:prstGeom prst="line">
            <a:avLst/>
          </a:prstGeom>
          <a:noFill/>
          <a:ln w="12700">
            <a:solidFill>
              <a:srgbClr val="9AA6BC"/>
            </a:solidFill>
            <a:prstDash val="solid"/>
          </a:ln>
        </p:spPr>
      </p:sp>
      <p:sp>
        <p:nvSpPr>
          <p:cNvPr id="20" name="Text 18"/>
          <p:cNvSpPr txBox="1"/>
          <p:nvPr/>
        </p:nvSpPr>
        <p:spPr>
          <a:xfrm>
            <a:off x="548640" y="3493008"/>
            <a:ext cx="5806440" cy="274320"/>
          </a:xfrm>
          <a:prstGeom prst="rect">
            <a:avLst/>
          </a:prstGeom>
          <a:noFill/>
          <a:ln/>
        </p:spPr>
        <p:txBody>
          <a:bodyPr wrap="square" lIns="0" tIns="0" rIns="0" bIns="0" rtlCol="0" anchor="ctr"/>
          <a:lstStyle/>
          <a:p>
            <a:pPr marL="0" indent="0" algn="ctr">
              <a:buNone/>
            </a:pPr>
            <a:r>
              <a:rPr lang="en-US" sz="1300" dirty="0">
                <a:solidFill>
                  <a:srgbClr val="9AA6BC"/>
                </a:solidFill>
                <a:latin typeface="Calibri" pitchFamily="34" charset="0"/>
                <a:ea typeface="Calibri" pitchFamily="34" charset="-122"/>
                <a:cs typeface="Calibri" pitchFamily="34" charset="-120"/>
              </a:rPr>
              <a:t>3 people ahead of you</a:t>
            </a:r>
            <a:endParaRPr lang="en-US" sz="1300" dirty="0"/>
          </a:p>
        </p:txBody>
      </p:sp>
      <p:sp>
        <p:nvSpPr>
          <p:cNvPr id="21" name="Text 19"/>
          <p:cNvSpPr txBox="1"/>
          <p:nvPr/>
        </p:nvSpPr>
        <p:spPr>
          <a:xfrm>
            <a:off x="548640" y="3931920"/>
            <a:ext cx="11064240" cy="914400"/>
          </a:xfrm>
          <a:prstGeom prst="rect">
            <a:avLst/>
          </a:prstGeom>
          <a:noFill/>
          <a:ln/>
        </p:spPr>
        <p:txBody>
          <a:bodyPr wrap="square" lIns="0" tIns="0" rIns="0" bIns="0" rtlCol="0" anchor="ctr"/>
          <a:lstStyle/>
          <a:p>
            <a:pPr marL="0" indent="0">
              <a:buNone/>
            </a:pPr>
            <a:r>
              <a:rPr lang="en-US" sz="5400" dirty="0">
                <a:solidFill>
                  <a:srgbClr val="F4B400"/>
                </a:solidFill>
                <a:latin typeface="Bahnschrift SemiBold Condensed" pitchFamily="34" charset="0"/>
                <a:ea typeface="Bahnschrift SemiBold Condensed" pitchFamily="34" charset="-122"/>
                <a:cs typeface="Bahnschrift SemiBold Condensed" pitchFamily="34" charset="-120"/>
              </a:rPr>
              <a:t>3</a:t>
            </a:r>
            <a:r>
              <a:rPr lang="en-US" sz="2400" dirty="0">
                <a:solidFill>
                  <a:srgbClr val="FFFFFF"/>
                </a:solidFill>
                <a:latin typeface="Calibri" pitchFamily="34" charset="0"/>
                <a:ea typeface="Calibri" pitchFamily="34" charset="-122"/>
                <a:cs typeface="Calibri" pitchFamily="34" charset="-120"/>
              </a:rPr>
              <a:t>  ahead   ×   </a:t>
            </a:r>
            <a:r>
              <a:rPr lang="en-US" sz="5400" dirty="0">
                <a:solidFill>
                  <a:srgbClr val="F4B400"/>
                </a:solidFill>
                <a:latin typeface="Bahnschrift SemiBold Condensed" pitchFamily="34" charset="0"/>
                <a:ea typeface="Bahnschrift SemiBold Condensed" pitchFamily="34" charset="-122"/>
                <a:cs typeface="Bahnschrift SemiBold Condensed" pitchFamily="34" charset="-120"/>
              </a:rPr>
              <a:t>3 min</a:t>
            </a:r>
            <a:r>
              <a:rPr lang="en-US" sz="2400" dirty="0">
                <a:solidFill>
                  <a:srgbClr val="FFFFFF"/>
                </a:solidFill>
                <a:latin typeface="Calibri" pitchFamily="34" charset="0"/>
                <a:ea typeface="Calibri" pitchFamily="34" charset="-122"/>
                <a:cs typeface="Calibri" pitchFamily="34" charset="-120"/>
              </a:rPr>
              <a:t>  average   =   </a:t>
            </a:r>
            <a:r>
              <a:rPr lang="en-US" sz="5400" dirty="0">
                <a:solidFill>
                  <a:srgbClr val="FFFFFF"/>
                </a:solidFill>
                <a:latin typeface="Bahnschrift SemiBold Condensed" pitchFamily="34" charset="0"/>
                <a:ea typeface="Bahnschrift SemiBold Condensed" pitchFamily="34" charset="-122"/>
                <a:cs typeface="Bahnschrift SemiBold Condensed" pitchFamily="34" charset="-120"/>
              </a:rPr>
              <a:t>~9 min</a:t>
            </a:r>
            <a:endParaRPr lang="en-US" sz="5400" dirty="0"/>
          </a:p>
        </p:txBody>
      </p:sp>
      <p:sp>
        <p:nvSpPr>
          <p:cNvPr id="22" name="Text 20"/>
          <p:cNvSpPr txBox="1"/>
          <p:nvPr/>
        </p:nvSpPr>
        <p:spPr>
          <a:xfrm>
            <a:off x="548640" y="5120640"/>
            <a:ext cx="3484778" cy="320040"/>
          </a:xfrm>
          <a:prstGeom prst="rect">
            <a:avLst/>
          </a:prstGeom>
          <a:noFill/>
          <a:ln/>
        </p:spPr>
        <p:txBody>
          <a:bodyPr wrap="square" lIns="0" tIns="0" rIns="0" bIns="0" rtlCol="0" anchor="ctr"/>
          <a:lstStyle/>
          <a:p>
            <a:pPr marL="0" indent="0">
              <a:buNone/>
            </a:pPr>
            <a:r>
              <a:rPr lang="en-US" sz="1600" b="1" dirty="0">
                <a:solidFill>
                  <a:srgbClr val="F4B400"/>
                </a:solidFill>
                <a:latin typeface="Calibri" pitchFamily="34" charset="0"/>
                <a:ea typeface="Calibri" pitchFamily="34" charset="-122"/>
                <a:cs typeface="Calibri" pitchFamily="34" charset="-120"/>
              </a:rPr>
              <a:t>Learns</a:t>
            </a:r>
            <a:endParaRPr lang="en-US" sz="1600" dirty="0"/>
          </a:p>
        </p:txBody>
      </p:sp>
      <p:sp>
        <p:nvSpPr>
          <p:cNvPr id="23" name="Text 21"/>
          <p:cNvSpPr txBox="1"/>
          <p:nvPr/>
        </p:nvSpPr>
        <p:spPr>
          <a:xfrm>
            <a:off x="548640" y="5458968"/>
            <a:ext cx="3484778" cy="822960"/>
          </a:xfrm>
          <a:prstGeom prst="rect">
            <a:avLst/>
          </a:prstGeom>
          <a:noFill/>
          <a:ln/>
        </p:spPr>
        <p:txBody>
          <a:bodyPr wrap="square" lIns="0" tIns="0" rIns="0" bIns="0" rtlCol="0" anchor="t"/>
          <a:lstStyle/>
          <a:p>
            <a:pPr marL="0" indent="0">
              <a:buNone/>
            </a:pPr>
            <a:r>
              <a:rPr lang="en-US" sz="1400" dirty="0">
                <a:solidFill>
                  <a:srgbClr val="C9D1DE"/>
                </a:solidFill>
                <a:latin typeface="Calibri" pitchFamily="34" charset="0"/>
                <a:ea typeface="Calibri" pitchFamily="34" charset="-122"/>
                <a:cs typeface="Calibri" pitchFamily="34" charset="-120"/>
              </a:rPr>
              <a:t>Averages the last 20 completed tokens, so estimates follow how fast the counter is really moving.</a:t>
            </a:r>
            <a:endParaRPr lang="en-US" sz="1400" dirty="0"/>
          </a:p>
        </p:txBody>
      </p:sp>
      <p:sp>
        <p:nvSpPr>
          <p:cNvPr id="24" name="Text 22"/>
          <p:cNvSpPr txBox="1"/>
          <p:nvPr/>
        </p:nvSpPr>
        <p:spPr>
          <a:xfrm>
            <a:off x="4353458" y="5120640"/>
            <a:ext cx="3484778" cy="320040"/>
          </a:xfrm>
          <a:prstGeom prst="rect">
            <a:avLst/>
          </a:prstGeom>
          <a:noFill/>
          <a:ln/>
        </p:spPr>
        <p:txBody>
          <a:bodyPr wrap="square" lIns="0" tIns="0" rIns="0" bIns="0" rtlCol="0" anchor="ctr"/>
          <a:lstStyle/>
          <a:p>
            <a:pPr marL="0" indent="0">
              <a:buNone/>
            </a:pPr>
            <a:r>
              <a:rPr lang="en-US" sz="1600" b="1" dirty="0">
                <a:solidFill>
                  <a:srgbClr val="F4B400"/>
                </a:solidFill>
                <a:latin typeface="Calibri" pitchFamily="34" charset="0"/>
                <a:ea typeface="Calibri" pitchFamily="34" charset="-122"/>
                <a:cs typeface="Calibri" pitchFamily="34" charset="-120"/>
              </a:rPr>
              <a:t>Filters noise</a:t>
            </a:r>
            <a:endParaRPr lang="en-US" sz="1600" dirty="0"/>
          </a:p>
        </p:txBody>
      </p:sp>
      <p:sp>
        <p:nvSpPr>
          <p:cNvPr id="25" name="Text 23"/>
          <p:cNvSpPr txBox="1"/>
          <p:nvPr/>
        </p:nvSpPr>
        <p:spPr>
          <a:xfrm>
            <a:off x="4353458" y="5458968"/>
            <a:ext cx="3484778" cy="822960"/>
          </a:xfrm>
          <a:prstGeom prst="rect">
            <a:avLst/>
          </a:prstGeom>
          <a:noFill/>
          <a:ln/>
        </p:spPr>
        <p:txBody>
          <a:bodyPr wrap="square" lIns="0" tIns="0" rIns="0" bIns="0" rtlCol="0" anchor="t"/>
          <a:lstStyle/>
          <a:p>
            <a:pPr marL="0" indent="0">
              <a:buNone/>
            </a:pPr>
            <a:r>
              <a:rPr lang="en-US" sz="1400" dirty="0">
                <a:solidFill>
                  <a:srgbClr val="C9D1DE"/>
                </a:solidFill>
                <a:latin typeface="Calibri" pitchFamily="34" charset="0"/>
                <a:ea typeface="Calibri" pitchFamily="34" charset="-122"/>
                <a:cs typeface="Calibri" pitchFamily="34" charset="-120"/>
              </a:rPr>
              <a:t>Accidental completions under 20 seconds are ignored, so a double-click can’t skew the average.</a:t>
            </a:r>
            <a:endParaRPr lang="en-US" sz="1400" dirty="0"/>
          </a:p>
        </p:txBody>
      </p:sp>
      <p:sp>
        <p:nvSpPr>
          <p:cNvPr id="26" name="Text 24"/>
          <p:cNvSpPr txBox="1"/>
          <p:nvPr/>
        </p:nvSpPr>
        <p:spPr>
          <a:xfrm>
            <a:off x="8158277" y="5120640"/>
            <a:ext cx="3484778" cy="320040"/>
          </a:xfrm>
          <a:prstGeom prst="rect">
            <a:avLst/>
          </a:prstGeom>
          <a:noFill/>
          <a:ln/>
        </p:spPr>
        <p:txBody>
          <a:bodyPr wrap="square" lIns="0" tIns="0" rIns="0" bIns="0" rtlCol="0" anchor="ctr"/>
          <a:lstStyle/>
          <a:p>
            <a:pPr marL="0" indent="0">
              <a:buNone/>
            </a:pPr>
            <a:r>
              <a:rPr lang="en-US" sz="1600" b="1" dirty="0">
                <a:solidFill>
                  <a:srgbClr val="F4B400"/>
                </a:solidFill>
                <a:latin typeface="Calibri" pitchFamily="34" charset="0"/>
                <a:ea typeface="Calibri" pitchFamily="34" charset="-122"/>
                <a:cs typeface="Calibri" pitchFamily="34" charset="-120"/>
              </a:rPr>
              <a:t>Starts sensibly</a:t>
            </a:r>
            <a:endParaRPr lang="en-US" sz="1600" dirty="0"/>
          </a:p>
        </p:txBody>
      </p:sp>
      <p:sp>
        <p:nvSpPr>
          <p:cNvPr id="27" name="Text 25"/>
          <p:cNvSpPr txBox="1"/>
          <p:nvPr/>
        </p:nvSpPr>
        <p:spPr>
          <a:xfrm>
            <a:off x="8158277" y="5458968"/>
            <a:ext cx="3484778" cy="822960"/>
          </a:xfrm>
          <a:prstGeom prst="rect">
            <a:avLst/>
          </a:prstGeom>
          <a:noFill/>
          <a:ln/>
        </p:spPr>
        <p:txBody>
          <a:bodyPr wrap="square" lIns="0" tIns="0" rIns="0" bIns="0" rtlCol="0" anchor="t"/>
          <a:lstStyle/>
          <a:p>
            <a:pPr marL="0" indent="0">
              <a:buNone/>
            </a:pPr>
            <a:r>
              <a:rPr lang="en-US" sz="1400" dirty="0">
                <a:solidFill>
                  <a:srgbClr val="C9D1DE"/>
                </a:solidFill>
                <a:latin typeface="Calibri" pitchFamily="34" charset="0"/>
                <a:ea typeface="Calibri" pitchFamily="34" charset="-122"/>
                <a:cs typeface="Calibri" pitchFamily="34" charset="-120"/>
              </a:rPr>
              <a:t>A brand-new counter uses the admin’s default minutes per student until history exists.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749808" cy="347472"/>
          </a:xfrm>
          <a:prstGeom prst="roundRect">
            <a:avLst>
              <a:gd name="adj" fmla="val 15789"/>
            </a:avLst>
          </a:prstGeom>
          <a:solidFill>
            <a:srgbClr val="F4B400"/>
          </a:solidFill>
          <a:ln w="12700">
            <a:solidFill>
              <a:srgbClr val="F4B400"/>
            </a:solidFill>
            <a:prstDash val="solid"/>
          </a:ln>
        </p:spPr>
      </p:sp>
      <p:sp>
        <p:nvSpPr>
          <p:cNvPr id="3" name="Text 1"/>
          <p:cNvSpPr txBox="1"/>
          <p:nvPr/>
        </p:nvSpPr>
        <p:spPr>
          <a:xfrm>
            <a:off x="548640" y="411480"/>
            <a:ext cx="749808" cy="347472"/>
          </a:xfrm>
          <a:prstGeom prst="rect">
            <a:avLst/>
          </a:prstGeom>
          <a:noFill/>
          <a:ln/>
        </p:spPr>
        <p:txBody>
          <a:bodyPr wrap="square" lIns="0" tIns="0" rIns="0" bIns="0" rtlCol="0" anchor="ctr"/>
          <a:lstStyle/>
          <a:p>
            <a:pPr marL="0" indent="0" algn="ctr">
              <a:buNone/>
            </a:pPr>
            <a:r>
              <a:rPr lang="en-US" sz="1700" dirty="0">
                <a:solidFill>
                  <a:srgbClr val="172033"/>
                </a:solidFill>
                <a:latin typeface="Bahnschrift SemiBold Condensed" pitchFamily="34" charset="0"/>
                <a:ea typeface="Bahnschrift SemiBold Condensed" pitchFamily="34" charset="-122"/>
                <a:cs typeface="Bahnschrift SemiBold Condensed" pitchFamily="34" charset="-120"/>
              </a:rPr>
              <a:t>A008</a:t>
            </a:r>
            <a:endParaRPr lang="en-US" sz="1700" dirty="0"/>
          </a:p>
        </p:txBody>
      </p:sp>
      <p:sp>
        <p:nvSpPr>
          <p:cNvPr id="4" name="Text 2"/>
          <p:cNvSpPr txBox="1"/>
          <p:nvPr/>
        </p:nvSpPr>
        <p:spPr>
          <a:xfrm>
            <a:off x="1444752" y="411480"/>
            <a:ext cx="5486400" cy="347472"/>
          </a:xfrm>
          <a:prstGeom prst="rect">
            <a:avLst/>
          </a:prstGeom>
          <a:noFill/>
          <a:ln/>
        </p:spPr>
        <p:txBody>
          <a:bodyPr wrap="square" lIns="0" tIns="0" rIns="0" bIns="0" rtlCol="0" anchor="ctr"/>
          <a:lstStyle/>
          <a:p>
            <a:pPr marL="0" indent="0">
              <a:buNone/>
            </a:pPr>
            <a:r>
              <a:rPr lang="en-US" sz="1200" b="1" kern="0" spc="300" dirty="0">
                <a:solidFill>
                  <a:srgbClr val="5A6478"/>
                </a:solidFill>
                <a:latin typeface="Calibri" pitchFamily="34" charset="0"/>
                <a:ea typeface="Calibri" pitchFamily="34" charset="-122"/>
                <a:cs typeface="Calibri" pitchFamily="34" charset="-120"/>
              </a:rPr>
              <a:t>HOW IT’S BUILT</a:t>
            </a:r>
            <a:endParaRPr lang="en-US" sz="1200" dirty="0"/>
          </a:p>
        </p:txBody>
      </p:sp>
      <p:sp>
        <p:nvSpPr>
          <p:cNvPr id="5" name="Text 3"/>
          <p:cNvSpPr txBox="1"/>
          <p:nvPr/>
        </p:nvSpPr>
        <p:spPr>
          <a:xfrm>
            <a:off x="548640" y="896112"/>
            <a:ext cx="11064240" cy="731520"/>
          </a:xfrm>
          <a:prstGeom prst="rect">
            <a:avLst/>
          </a:prstGeom>
          <a:noFill/>
          <a:ln/>
        </p:spPr>
        <p:txBody>
          <a:bodyPr wrap="square" lIns="0" tIns="0" rIns="0" bIns="0" rtlCol="0" anchor="t"/>
          <a:lstStyle/>
          <a:p>
            <a:pPr marL="0" indent="0">
              <a:buNone/>
            </a:pPr>
            <a:r>
              <a:rPr lang="en-US" sz="3400" dirty="0">
                <a:solidFill>
                  <a:srgbClr val="172033"/>
                </a:solidFill>
                <a:latin typeface="Bahnschrift SemiBold" pitchFamily="34" charset="0"/>
                <a:ea typeface="Bahnschrift SemiBold" pitchFamily="34" charset="-122"/>
                <a:cs typeface="Bahnschrift SemiBold" pitchFamily="34" charset="-120"/>
              </a:rPr>
              <a:t>A real-time full-stack web app</a:t>
            </a:r>
            <a:endParaRPr lang="en-US" sz="3400" dirty="0"/>
          </a:p>
        </p:txBody>
      </p:sp>
      <p:sp>
        <p:nvSpPr>
          <p:cNvPr id="6" name="Shape 4"/>
          <p:cNvSpPr/>
          <p:nvPr/>
        </p:nvSpPr>
        <p:spPr>
          <a:xfrm>
            <a:off x="548640" y="1783080"/>
            <a:ext cx="3063240" cy="2788920"/>
          </a:xfrm>
          <a:prstGeom prst="roundRect">
            <a:avLst>
              <a:gd name="adj" fmla="val 3934"/>
            </a:avLst>
          </a:prstGeom>
          <a:solidFill>
            <a:srgbClr val="F3F5F8"/>
          </a:solidFill>
          <a:ln w="12700">
            <a:solidFill>
              <a:srgbClr val="F3F5F8"/>
            </a:solidFill>
            <a:prstDash val="solid"/>
          </a:ln>
        </p:spPr>
      </p:sp>
      <p:sp>
        <p:nvSpPr>
          <p:cNvPr id="7" name="Shape 5"/>
          <p:cNvSpPr/>
          <p:nvPr/>
        </p:nvSpPr>
        <p:spPr>
          <a:xfrm>
            <a:off x="822960" y="2103120"/>
            <a:ext cx="566928" cy="566928"/>
          </a:xfrm>
          <a:prstGeom prst="ellipse">
            <a:avLst/>
          </a:prstGeom>
          <a:solidFill>
            <a:srgbClr val="F4B400"/>
          </a:solidFill>
          <a:ln w="12700">
            <a:solidFill>
              <a:srgbClr val="F4B400"/>
            </a:solidFill>
            <a:prstDash val="solid"/>
          </a:ln>
        </p:spPr>
      </p:sp>
      <p:pic>
        <p:nvPicPr>
          <p:cNvPr id="8" name="Image 0" descr="preencoded.png"/>
          <p:cNvPicPr>
            <a:picLocks noChangeAspect="1"/>
          </p:cNvPicPr>
          <p:nvPr/>
        </p:nvPicPr>
        <p:blipFill>
          <a:blip r:embed="rId3"/>
          <a:stretch>
            <a:fillRect/>
          </a:stretch>
        </p:blipFill>
        <p:spPr>
          <a:xfrm>
            <a:off x="953353" y="2233513"/>
            <a:ext cx="306141" cy="306141"/>
          </a:xfrm>
          <a:prstGeom prst="rect">
            <a:avLst/>
          </a:prstGeom>
        </p:spPr>
      </p:pic>
      <p:sp>
        <p:nvSpPr>
          <p:cNvPr id="9" name="Text 6"/>
          <p:cNvSpPr txBox="1"/>
          <p:nvPr/>
        </p:nvSpPr>
        <p:spPr>
          <a:xfrm>
            <a:off x="1536192" y="2103120"/>
            <a:ext cx="1874520" cy="566928"/>
          </a:xfrm>
          <a:prstGeom prst="rect">
            <a:avLst/>
          </a:prstGeom>
          <a:noFill/>
          <a:ln/>
        </p:spPr>
        <p:txBody>
          <a:bodyPr wrap="square" lIns="0" tIns="0" rIns="0" bIns="0" rtlCol="0" anchor="ctr"/>
          <a:lstStyle/>
          <a:p>
            <a:pPr marL="0" indent="0">
              <a:buNone/>
            </a:pPr>
            <a:r>
              <a:rPr lang="en-US" sz="2100" dirty="0">
                <a:solidFill>
                  <a:srgbClr val="172033"/>
                </a:solidFill>
                <a:latin typeface="Bahnschrift SemiBold" pitchFamily="34" charset="0"/>
                <a:ea typeface="Bahnschrift SemiBold" pitchFamily="34" charset="-122"/>
                <a:cs typeface="Bahnschrift SemiBold" pitchFamily="34" charset="-120"/>
              </a:rPr>
              <a:t>Frontend</a:t>
            </a:r>
            <a:endParaRPr lang="en-US" sz="2100" dirty="0"/>
          </a:p>
        </p:txBody>
      </p:sp>
      <p:sp>
        <p:nvSpPr>
          <p:cNvPr id="10" name="Text 7"/>
          <p:cNvSpPr txBox="1"/>
          <p:nvPr/>
        </p:nvSpPr>
        <p:spPr>
          <a:xfrm>
            <a:off x="822960" y="2971800"/>
            <a:ext cx="2606040" cy="1463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3D4759"/>
                </a:solidFill>
                <a:latin typeface="Calibri" pitchFamily="34" charset="0"/>
                <a:ea typeface="Calibri" pitchFamily="34" charset="-122"/>
                <a:cs typeface="Calibri" pitchFamily="34" charset="-120"/>
              </a:rPr>
              <a:t>React 18 + Vite</a:t>
            </a:r>
            <a:endParaRPr lang="en-US" sz="1500" dirty="0"/>
          </a:p>
          <a:p>
            <a:pPr marL="203200" indent="-203200">
              <a:spcAft>
                <a:spcPts val="400"/>
              </a:spcAft>
              <a:buSzPct val="100000"/>
              <a:buChar char="•"/>
            </a:pPr>
            <a:r>
              <a:rPr lang="en-US" sz="1500" dirty="0">
                <a:solidFill>
                  <a:srgbClr val="3D4759"/>
                </a:solidFill>
                <a:latin typeface="Calibri" pitchFamily="34" charset="0"/>
                <a:ea typeface="Calibri" pitchFamily="34" charset="-122"/>
                <a:cs typeface="Calibri" pitchFamily="34" charset="-120"/>
              </a:rPr>
              <a:t>Tailwind CSS</a:t>
            </a:r>
            <a:endParaRPr lang="en-US" sz="1500" dirty="0"/>
          </a:p>
          <a:p>
            <a:pPr marL="203200" indent="-203200">
              <a:spcAft>
                <a:spcPts val="400"/>
              </a:spcAft>
              <a:buSzPct val="100000"/>
              <a:buChar char="•"/>
            </a:pPr>
            <a:r>
              <a:rPr lang="en-US" sz="1500" dirty="0">
                <a:solidFill>
                  <a:srgbClr val="3D4759"/>
                </a:solidFill>
                <a:latin typeface="Calibri" pitchFamily="34" charset="0"/>
                <a:ea typeface="Calibri" pitchFamily="34" charset="-122"/>
                <a:cs typeface="Calibri" pitchFamily="34" charset="-120"/>
              </a:rPr>
              <a:t>Recharts for statistics</a:t>
            </a:r>
            <a:endParaRPr lang="en-US" sz="1500" dirty="0"/>
          </a:p>
          <a:p>
            <a:pPr marL="203200" indent="-203200">
              <a:spcAft>
                <a:spcPts val="400"/>
              </a:spcAft>
              <a:buSzPct val="100000"/>
              <a:buChar char="•"/>
            </a:pPr>
            <a:r>
              <a:rPr lang="en-US" sz="1500" dirty="0">
                <a:solidFill>
                  <a:srgbClr val="3D4759"/>
                </a:solidFill>
                <a:latin typeface="Calibri" pitchFamily="34" charset="0"/>
                <a:ea typeface="Calibri" pitchFamily="34" charset="-122"/>
                <a:cs typeface="Calibri" pitchFamily="34" charset="-120"/>
              </a:rPr>
              <a:t>Socket.IO client</a:t>
            </a:r>
            <a:endParaRPr lang="en-US" sz="1500" dirty="0"/>
          </a:p>
        </p:txBody>
      </p:sp>
      <p:sp>
        <p:nvSpPr>
          <p:cNvPr id="11" name="Shape 8"/>
          <p:cNvSpPr/>
          <p:nvPr/>
        </p:nvSpPr>
        <p:spPr>
          <a:xfrm>
            <a:off x="4564228" y="1783080"/>
            <a:ext cx="3063240" cy="2788920"/>
          </a:xfrm>
          <a:prstGeom prst="roundRect">
            <a:avLst>
              <a:gd name="adj" fmla="val 3934"/>
            </a:avLst>
          </a:prstGeom>
          <a:solidFill>
            <a:srgbClr val="172033"/>
          </a:solidFill>
          <a:ln w="12700">
            <a:solidFill>
              <a:srgbClr val="172033"/>
            </a:solidFill>
            <a:prstDash val="solid"/>
          </a:ln>
        </p:spPr>
      </p:sp>
      <p:sp>
        <p:nvSpPr>
          <p:cNvPr id="12" name="Shape 9"/>
          <p:cNvSpPr/>
          <p:nvPr/>
        </p:nvSpPr>
        <p:spPr>
          <a:xfrm>
            <a:off x="4838548" y="2103120"/>
            <a:ext cx="566928" cy="566928"/>
          </a:xfrm>
          <a:prstGeom prst="ellipse">
            <a:avLst/>
          </a:prstGeom>
          <a:solidFill>
            <a:srgbClr val="F4B400"/>
          </a:solidFill>
          <a:ln w="12700">
            <a:solidFill>
              <a:srgbClr val="F4B400"/>
            </a:solidFill>
            <a:prstDash val="solid"/>
          </a:ln>
        </p:spPr>
      </p:sp>
      <p:pic>
        <p:nvPicPr>
          <p:cNvPr id="13" name="Image 1" descr="preencoded.png"/>
          <p:cNvPicPr>
            <a:picLocks noChangeAspect="1"/>
          </p:cNvPicPr>
          <p:nvPr/>
        </p:nvPicPr>
        <p:blipFill>
          <a:blip r:embed="rId4"/>
          <a:stretch>
            <a:fillRect/>
          </a:stretch>
        </p:blipFill>
        <p:spPr>
          <a:xfrm>
            <a:off x="4968941" y="2233513"/>
            <a:ext cx="306141" cy="306141"/>
          </a:xfrm>
          <a:prstGeom prst="rect">
            <a:avLst/>
          </a:prstGeom>
        </p:spPr>
      </p:pic>
      <p:sp>
        <p:nvSpPr>
          <p:cNvPr id="14" name="Text 10"/>
          <p:cNvSpPr txBox="1"/>
          <p:nvPr/>
        </p:nvSpPr>
        <p:spPr>
          <a:xfrm>
            <a:off x="5551780" y="2103120"/>
            <a:ext cx="1874520" cy="566928"/>
          </a:xfrm>
          <a:prstGeom prst="rect">
            <a:avLst/>
          </a:prstGeom>
          <a:noFill/>
          <a:ln/>
        </p:spPr>
        <p:txBody>
          <a:bodyPr wrap="square" lIns="0" tIns="0" rIns="0" bIns="0" rtlCol="0" anchor="ctr"/>
          <a:lstStyle/>
          <a:p>
            <a:pPr marL="0" indent="0">
              <a:buNone/>
            </a:pPr>
            <a:r>
              <a:rPr lang="en-US" sz="2100" dirty="0">
                <a:solidFill>
                  <a:srgbClr val="FFFFFF"/>
                </a:solidFill>
                <a:latin typeface="Bahnschrift SemiBold" pitchFamily="34" charset="0"/>
                <a:ea typeface="Bahnschrift SemiBold" pitchFamily="34" charset="-122"/>
                <a:cs typeface="Bahnschrift SemiBold" pitchFamily="34" charset="-120"/>
              </a:rPr>
              <a:t>Backend</a:t>
            </a:r>
            <a:endParaRPr lang="en-US" sz="2100" dirty="0"/>
          </a:p>
        </p:txBody>
      </p:sp>
      <p:sp>
        <p:nvSpPr>
          <p:cNvPr id="15" name="Text 11"/>
          <p:cNvSpPr txBox="1"/>
          <p:nvPr/>
        </p:nvSpPr>
        <p:spPr>
          <a:xfrm>
            <a:off x="4838548" y="2971800"/>
            <a:ext cx="2606040" cy="1463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C9D1DE"/>
                </a:solidFill>
                <a:latin typeface="Calibri" pitchFamily="34" charset="0"/>
                <a:ea typeface="Calibri" pitchFamily="34" charset="-122"/>
                <a:cs typeface="Calibri" pitchFamily="34" charset="-120"/>
              </a:rPr>
              <a:t>Node.js + Express REST API</a:t>
            </a:r>
            <a:endParaRPr lang="en-US" sz="1500" dirty="0"/>
          </a:p>
          <a:p>
            <a:pPr marL="203200" indent="-203200">
              <a:spcAft>
                <a:spcPts val="400"/>
              </a:spcAft>
              <a:buSzPct val="100000"/>
              <a:buChar char="•"/>
            </a:pPr>
            <a:r>
              <a:rPr lang="en-US" sz="1500" dirty="0">
                <a:solidFill>
                  <a:srgbClr val="C9D1DE"/>
                </a:solidFill>
                <a:latin typeface="Calibri" pitchFamily="34" charset="0"/>
                <a:ea typeface="Calibri" pitchFamily="34" charset="-122"/>
                <a:cs typeface="Calibri" pitchFamily="34" charset="-120"/>
              </a:rPr>
              <a:t>Socket.IO with JWT auth</a:t>
            </a:r>
            <a:endParaRPr lang="en-US" sz="1500" dirty="0"/>
          </a:p>
          <a:p>
            <a:pPr marL="203200" indent="-203200">
              <a:spcAft>
                <a:spcPts val="400"/>
              </a:spcAft>
              <a:buSzPct val="100000"/>
              <a:buChar char="•"/>
            </a:pPr>
            <a:r>
              <a:rPr lang="en-US" sz="1500" dirty="0">
                <a:solidFill>
                  <a:srgbClr val="C9D1DE"/>
                </a:solidFill>
                <a:latin typeface="Calibri" pitchFamily="34" charset="0"/>
                <a:ea typeface="Calibri" pitchFamily="34" charset="-122"/>
                <a:cs typeface="Calibri" pitchFamily="34" charset="-120"/>
              </a:rPr>
              <a:t>Queue logic and validation</a:t>
            </a:r>
            <a:endParaRPr lang="en-US" sz="1500" dirty="0"/>
          </a:p>
          <a:p>
            <a:pPr marL="203200" indent="-203200">
              <a:spcAft>
                <a:spcPts val="400"/>
              </a:spcAft>
              <a:buSzPct val="100000"/>
              <a:buChar char="•"/>
            </a:pPr>
            <a:r>
              <a:rPr lang="en-US" sz="1500" dirty="0">
                <a:solidFill>
                  <a:srgbClr val="C9D1DE"/>
                </a:solidFill>
                <a:latin typeface="Calibri" pitchFamily="34" charset="0"/>
                <a:ea typeface="Calibri" pitchFamily="34" charset="-122"/>
                <a:cs typeface="Calibri" pitchFamily="34" charset="-120"/>
              </a:rPr>
              <a:t>Role + per-service permissions</a:t>
            </a:r>
            <a:endParaRPr lang="en-US" sz="1500" dirty="0"/>
          </a:p>
        </p:txBody>
      </p:sp>
      <p:sp>
        <p:nvSpPr>
          <p:cNvPr id="16" name="Shape 12"/>
          <p:cNvSpPr/>
          <p:nvPr/>
        </p:nvSpPr>
        <p:spPr>
          <a:xfrm>
            <a:off x="8579815" y="1783080"/>
            <a:ext cx="3063240" cy="2788920"/>
          </a:xfrm>
          <a:prstGeom prst="roundRect">
            <a:avLst>
              <a:gd name="adj" fmla="val 3934"/>
            </a:avLst>
          </a:prstGeom>
          <a:solidFill>
            <a:srgbClr val="F3F5F8"/>
          </a:solidFill>
          <a:ln w="12700">
            <a:solidFill>
              <a:srgbClr val="F3F5F8"/>
            </a:solidFill>
            <a:prstDash val="solid"/>
          </a:ln>
        </p:spPr>
      </p:sp>
      <p:sp>
        <p:nvSpPr>
          <p:cNvPr id="17" name="Shape 13"/>
          <p:cNvSpPr/>
          <p:nvPr/>
        </p:nvSpPr>
        <p:spPr>
          <a:xfrm>
            <a:off x="8854135" y="2103120"/>
            <a:ext cx="566928" cy="566928"/>
          </a:xfrm>
          <a:prstGeom prst="ellipse">
            <a:avLst/>
          </a:prstGeom>
          <a:solidFill>
            <a:srgbClr val="F4B400"/>
          </a:solidFill>
          <a:ln w="12700">
            <a:solidFill>
              <a:srgbClr val="F4B400"/>
            </a:solidFill>
            <a:prstDash val="solid"/>
          </a:ln>
        </p:spPr>
      </p:sp>
      <p:pic>
        <p:nvPicPr>
          <p:cNvPr id="18" name="Image 2" descr="preencoded.png"/>
          <p:cNvPicPr>
            <a:picLocks noChangeAspect="1"/>
          </p:cNvPicPr>
          <p:nvPr/>
        </p:nvPicPr>
        <p:blipFill>
          <a:blip r:embed="rId5"/>
          <a:stretch>
            <a:fillRect/>
          </a:stretch>
        </p:blipFill>
        <p:spPr>
          <a:xfrm>
            <a:off x="8984529" y="2233513"/>
            <a:ext cx="306141" cy="306141"/>
          </a:xfrm>
          <a:prstGeom prst="rect">
            <a:avLst/>
          </a:prstGeom>
        </p:spPr>
      </p:pic>
      <p:sp>
        <p:nvSpPr>
          <p:cNvPr id="19" name="Text 14"/>
          <p:cNvSpPr txBox="1"/>
          <p:nvPr/>
        </p:nvSpPr>
        <p:spPr>
          <a:xfrm>
            <a:off x="9567367" y="2103120"/>
            <a:ext cx="1874520" cy="566928"/>
          </a:xfrm>
          <a:prstGeom prst="rect">
            <a:avLst/>
          </a:prstGeom>
          <a:noFill/>
          <a:ln/>
        </p:spPr>
        <p:txBody>
          <a:bodyPr wrap="square" lIns="0" tIns="0" rIns="0" bIns="0" rtlCol="0" anchor="ctr"/>
          <a:lstStyle/>
          <a:p>
            <a:pPr marL="0" indent="0">
              <a:buNone/>
            </a:pPr>
            <a:r>
              <a:rPr lang="en-US" sz="2100" dirty="0">
                <a:solidFill>
                  <a:srgbClr val="172033"/>
                </a:solidFill>
                <a:latin typeface="Bahnschrift SemiBold" pitchFamily="34" charset="0"/>
                <a:ea typeface="Bahnschrift SemiBold" pitchFamily="34" charset="-122"/>
                <a:cs typeface="Bahnschrift SemiBold" pitchFamily="34" charset="-120"/>
              </a:rPr>
              <a:t>Database</a:t>
            </a:r>
            <a:endParaRPr lang="en-US" sz="2100" dirty="0"/>
          </a:p>
        </p:txBody>
      </p:sp>
      <p:sp>
        <p:nvSpPr>
          <p:cNvPr id="20" name="Text 15"/>
          <p:cNvSpPr txBox="1"/>
          <p:nvPr/>
        </p:nvSpPr>
        <p:spPr>
          <a:xfrm>
            <a:off x="8854135" y="2971800"/>
            <a:ext cx="2606040" cy="1463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3D4759"/>
                </a:solidFill>
                <a:latin typeface="Calibri" pitchFamily="34" charset="0"/>
                <a:ea typeface="Calibri" pitchFamily="34" charset="-122"/>
                <a:cs typeface="Calibri" pitchFamily="34" charset="-120"/>
              </a:rPr>
              <a:t>MySQL 8</a:t>
            </a:r>
            <a:endParaRPr lang="en-US" sz="1500" dirty="0"/>
          </a:p>
          <a:p>
            <a:pPr marL="203200" indent="-203200">
              <a:spcAft>
                <a:spcPts val="400"/>
              </a:spcAft>
              <a:buSzPct val="100000"/>
              <a:buChar char="•"/>
            </a:pPr>
            <a:r>
              <a:rPr lang="en-US" sz="1500" dirty="0">
                <a:solidFill>
                  <a:srgbClr val="3D4759"/>
                </a:solidFill>
                <a:latin typeface="Calibri" pitchFamily="34" charset="0"/>
                <a:ea typeface="Calibri" pitchFamily="34" charset="-122"/>
                <a:cs typeface="Calibri" pitchFamily="34" charset="-120"/>
              </a:rPr>
              <a:t>Transactions + row locks</a:t>
            </a:r>
            <a:endParaRPr lang="en-US" sz="1500" dirty="0"/>
          </a:p>
          <a:p>
            <a:pPr marL="203200" indent="-203200">
              <a:spcAft>
                <a:spcPts val="400"/>
              </a:spcAft>
              <a:buSzPct val="100000"/>
              <a:buChar char="•"/>
            </a:pPr>
            <a:r>
              <a:rPr lang="en-US" sz="1500" dirty="0">
                <a:solidFill>
                  <a:srgbClr val="3D4759"/>
                </a:solidFill>
                <a:latin typeface="Calibri" pitchFamily="34" charset="0"/>
                <a:ea typeface="Calibri" pitchFamily="34" charset="-122"/>
                <a:cs typeface="Calibri" pitchFamily="34" charset="-120"/>
              </a:rPr>
              <a:t>UNIQUE rules for tokens</a:t>
            </a:r>
            <a:endParaRPr lang="en-US" sz="1500" dirty="0"/>
          </a:p>
          <a:p>
            <a:pPr marL="203200" indent="-203200">
              <a:spcAft>
                <a:spcPts val="400"/>
              </a:spcAft>
              <a:buSzPct val="100000"/>
              <a:buChar char="•"/>
            </a:pPr>
            <a:r>
              <a:rPr lang="en-US" sz="1500" dirty="0">
                <a:solidFill>
                  <a:srgbClr val="3D4759"/>
                </a:solidFill>
                <a:latin typeface="Calibri" pitchFamily="34" charset="0"/>
                <a:ea typeface="Calibri" pitchFamily="34" charset="-122"/>
                <a:cs typeface="Calibri" pitchFamily="34" charset="-120"/>
              </a:rPr>
              <a:t>Parameterised queries only</a:t>
            </a:r>
            <a:endParaRPr lang="en-US" sz="1500" dirty="0"/>
          </a:p>
        </p:txBody>
      </p:sp>
      <p:sp>
        <p:nvSpPr>
          <p:cNvPr id="21" name="Shape 16"/>
          <p:cNvSpPr/>
          <p:nvPr/>
        </p:nvSpPr>
        <p:spPr>
          <a:xfrm>
            <a:off x="3685032" y="3291840"/>
            <a:ext cx="806044" cy="0"/>
          </a:xfrm>
          <a:prstGeom prst="line">
            <a:avLst/>
          </a:prstGeom>
          <a:noFill/>
          <a:ln w="22225">
            <a:solidFill>
              <a:srgbClr val="5A6478"/>
            </a:solidFill>
            <a:prstDash val="solid"/>
            <a:headEnd type="triangle"/>
            <a:tailEnd type="triangle"/>
          </a:ln>
        </p:spPr>
      </p:sp>
      <p:sp>
        <p:nvSpPr>
          <p:cNvPr id="22" name="Text 17"/>
          <p:cNvSpPr txBox="1"/>
          <p:nvPr/>
        </p:nvSpPr>
        <p:spPr>
          <a:xfrm>
            <a:off x="3611880" y="2743200"/>
            <a:ext cx="952348" cy="457200"/>
          </a:xfrm>
          <a:prstGeom prst="rect">
            <a:avLst/>
          </a:prstGeom>
          <a:noFill/>
          <a:ln/>
        </p:spPr>
        <p:txBody>
          <a:bodyPr wrap="square" lIns="0" tIns="0" rIns="0" bIns="0" rtlCol="0" anchor="b"/>
          <a:lstStyle/>
          <a:p>
            <a:pPr marL="0" indent="0" algn="ctr">
              <a:buNone/>
            </a:pPr>
            <a:r>
              <a:rPr lang="en-US" sz="1050" b="1" dirty="0">
                <a:solidFill>
                  <a:srgbClr val="5A6478"/>
                </a:solidFill>
                <a:latin typeface="Calibri" pitchFamily="34" charset="0"/>
                <a:ea typeface="Calibri" pitchFamily="34" charset="-122"/>
                <a:cs typeface="Calibri" pitchFamily="34" charset="-120"/>
              </a:rPr>
              <a:t>REST +</a:t>
            </a:r>
            <a:endParaRPr lang="en-US" sz="1050" dirty="0"/>
          </a:p>
          <a:p>
            <a:pPr marL="0" indent="0" algn="ctr">
              <a:buNone/>
            </a:pPr>
            <a:r>
              <a:rPr lang="en-US" sz="1050" b="1" dirty="0">
                <a:solidFill>
                  <a:srgbClr val="5A6478"/>
                </a:solidFill>
                <a:latin typeface="Calibri" pitchFamily="34" charset="0"/>
                <a:ea typeface="Calibri" pitchFamily="34" charset="-122"/>
                <a:cs typeface="Calibri" pitchFamily="34" charset="-120"/>
              </a:rPr>
              <a:t>WebSocket</a:t>
            </a:r>
            <a:endParaRPr lang="en-US" sz="1050" dirty="0"/>
          </a:p>
        </p:txBody>
      </p:sp>
      <p:sp>
        <p:nvSpPr>
          <p:cNvPr id="23" name="Shape 18"/>
          <p:cNvSpPr/>
          <p:nvPr/>
        </p:nvSpPr>
        <p:spPr>
          <a:xfrm>
            <a:off x="7700620" y="3291840"/>
            <a:ext cx="806044" cy="0"/>
          </a:xfrm>
          <a:prstGeom prst="line">
            <a:avLst/>
          </a:prstGeom>
          <a:noFill/>
          <a:ln w="22225">
            <a:solidFill>
              <a:srgbClr val="5A6478"/>
            </a:solidFill>
            <a:prstDash val="solid"/>
            <a:headEnd type="triangle"/>
            <a:tailEnd type="triangle"/>
          </a:ln>
        </p:spPr>
      </p:sp>
      <p:sp>
        <p:nvSpPr>
          <p:cNvPr id="24" name="Text 19"/>
          <p:cNvSpPr txBox="1"/>
          <p:nvPr/>
        </p:nvSpPr>
        <p:spPr>
          <a:xfrm>
            <a:off x="7627468" y="2743200"/>
            <a:ext cx="952348" cy="457200"/>
          </a:xfrm>
          <a:prstGeom prst="rect">
            <a:avLst/>
          </a:prstGeom>
          <a:noFill/>
          <a:ln/>
        </p:spPr>
        <p:txBody>
          <a:bodyPr wrap="square" lIns="0" tIns="0" rIns="0" bIns="0" rtlCol="0" anchor="b"/>
          <a:lstStyle/>
          <a:p>
            <a:pPr marL="0" indent="0" algn="ctr">
              <a:buNone/>
            </a:pPr>
            <a:r>
              <a:rPr lang="en-US" sz="1050" b="1" dirty="0">
                <a:solidFill>
                  <a:srgbClr val="5A6478"/>
                </a:solidFill>
                <a:latin typeface="Calibri" pitchFamily="34" charset="0"/>
                <a:ea typeface="Calibri" pitchFamily="34" charset="-122"/>
                <a:cs typeface="Calibri" pitchFamily="34" charset="-120"/>
              </a:rPr>
              <a:t>SQL</a:t>
            </a:r>
            <a:endParaRPr lang="en-US" sz="1050" dirty="0"/>
          </a:p>
        </p:txBody>
      </p:sp>
      <p:sp>
        <p:nvSpPr>
          <p:cNvPr id="25" name="Shape 20"/>
          <p:cNvSpPr/>
          <p:nvPr/>
        </p:nvSpPr>
        <p:spPr>
          <a:xfrm>
            <a:off x="548640" y="5074920"/>
            <a:ext cx="502920" cy="502920"/>
          </a:xfrm>
          <a:prstGeom prst="ellipse">
            <a:avLst/>
          </a:prstGeom>
          <a:solidFill>
            <a:srgbClr val="172033"/>
          </a:solidFill>
          <a:ln w="12700">
            <a:solidFill>
              <a:srgbClr val="172033"/>
            </a:solidFill>
            <a:prstDash val="solid"/>
          </a:ln>
        </p:spPr>
      </p:sp>
      <p:pic>
        <p:nvPicPr>
          <p:cNvPr id="26" name="Image 3" descr="preencoded.png"/>
          <p:cNvPicPr>
            <a:picLocks noChangeAspect="1"/>
          </p:cNvPicPr>
          <p:nvPr/>
        </p:nvPicPr>
        <p:blipFill>
          <a:blip r:embed="rId6"/>
          <a:stretch>
            <a:fillRect/>
          </a:stretch>
        </p:blipFill>
        <p:spPr>
          <a:xfrm>
            <a:off x="664312" y="5190592"/>
            <a:ext cx="271577" cy="271577"/>
          </a:xfrm>
          <a:prstGeom prst="rect">
            <a:avLst/>
          </a:prstGeom>
        </p:spPr>
      </p:pic>
      <p:sp>
        <p:nvSpPr>
          <p:cNvPr id="27" name="Text 21"/>
          <p:cNvSpPr txBox="1"/>
          <p:nvPr/>
        </p:nvSpPr>
        <p:spPr>
          <a:xfrm>
            <a:off x="1234440" y="5056632"/>
            <a:ext cx="4632808" cy="329184"/>
          </a:xfrm>
          <a:prstGeom prst="rect">
            <a:avLst/>
          </a:prstGeom>
          <a:noFill/>
          <a:ln/>
        </p:spPr>
        <p:txBody>
          <a:bodyPr wrap="square" lIns="0" tIns="0" rIns="0" bIns="0" rtlCol="0" anchor="ctr"/>
          <a:lstStyle/>
          <a:p>
            <a:pPr marL="0" indent="0">
              <a:buNone/>
            </a:pPr>
            <a:r>
              <a:rPr lang="en-US" sz="1700" b="1" dirty="0">
                <a:solidFill>
                  <a:srgbClr val="172033"/>
                </a:solidFill>
                <a:latin typeface="Calibri" pitchFamily="34" charset="0"/>
                <a:ea typeface="Calibri" pitchFamily="34" charset="-122"/>
                <a:cs typeface="Calibri" pitchFamily="34" charset="-120"/>
              </a:rPr>
              <a:t>Real-time, safely</a:t>
            </a:r>
            <a:endParaRPr lang="en-US" sz="1700" dirty="0"/>
          </a:p>
        </p:txBody>
      </p:sp>
      <p:sp>
        <p:nvSpPr>
          <p:cNvPr id="28" name="Text 22"/>
          <p:cNvSpPr txBox="1"/>
          <p:nvPr/>
        </p:nvSpPr>
        <p:spPr>
          <a:xfrm>
            <a:off x="1234440" y="5404104"/>
            <a:ext cx="4632808" cy="822960"/>
          </a:xfrm>
          <a:prstGeom prst="rect">
            <a:avLst/>
          </a:prstGeom>
          <a:noFill/>
          <a:ln/>
        </p:spPr>
        <p:txBody>
          <a:bodyPr wrap="square" lIns="0" tIns="0" rIns="0" bIns="0" rtlCol="0" anchor="t"/>
          <a:lstStyle/>
          <a:p>
            <a:pPr marL="0" indent="0">
              <a:buNone/>
            </a:pPr>
            <a:r>
              <a:rPr lang="en-US" sz="1450" dirty="0">
                <a:solidFill>
                  <a:srgbClr val="5A6478"/>
                </a:solidFill>
                <a:latin typeface="Calibri" pitchFamily="34" charset="0"/>
                <a:ea typeface="Calibri" pitchFamily="34" charset="-122"/>
                <a:cs typeface="Calibri" pitchFamily="34" charset="-120"/>
              </a:rPr>
              <a:t>Socket events only say what changed; each screen re-fetches over REST, so the same permission checks always apply.</a:t>
            </a:r>
            <a:endParaRPr lang="en-US" sz="1450" dirty="0"/>
          </a:p>
        </p:txBody>
      </p:sp>
      <p:sp>
        <p:nvSpPr>
          <p:cNvPr id="29" name="Shape 23"/>
          <p:cNvSpPr/>
          <p:nvPr/>
        </p:nvSpPr>
        <p:spPr>
          <a:xfrm>
            <a:off x="6324448" y="5074920"/>
            <a:ext cx="502920" cy="502920"/>
          </a:xfrm>
          <a:prstGeom prst="ellipse">
            <a:avLst/>
          </a:prstGeom>
          <a:solidFill>
            <a:srgbClr val="172033"/>
          </a:solidFill>
          <a:ln w="12700">
            <a:solidFill>
              <a:srgbClr val="172033"/>
            </a:solidFill>
            <a:prstDash val="solid"/>
          </a:ln>
        </p:spPr>
      </p:sp>
      <p:pic>
        <p:nvPicPr>
          <p:cNvPr id="30" name="Image 4" descr="preencoded.png"/>
          <p:cNvPicPr>
            <a:picLocks noChangeAspect="1"/>
          </p:cNvPicPr>
          <p:nvPr/>
        </p:nvPicPr>
        <p:blipFill>
          <a:blip r:embed="rId7"/>
          <a:stretch>
            <a:fillRect/>
          </a:stretch>
        </p:blipFill>
        <p:spPr>
          <a:xfrm>
            <a:off x="6440119" y="5190592"/>
            <a:ext cx="271577" cy="271577"/>
          </a:xfrm>
          <a:prstGeom prst="rect">
            <a:avLst/>
          </a:prstGeom>
        </p:spPr>
      </p:pic>
      <p:sp>
        <p:nvSpPr>
          <p:cNvPr id="31" name="Text 24"/>
          <p:cNvSpPr txBox="1"/>
          <p:nvPr/>
        </p:nvSpPr>
        <p:spPr>
          <a:xfrm>
            <a:off x="7010248" y="5056632"/>
            <a:ext cx="4632808" cy="329184"/>
          </a:xfrm>
          <a:prstGeom prst="rect">
            <a:avLst/>
          </a:prstGeom>
          <a:noFill/>
          <a:ln/>
        </p:spPr>
        <p:txBody>
          <a:bodyPr wrap="square" lIns="0" tIns="0" rIns="0" bIns="0" rtlCol="0" anchor="ctr"/>
          <a:lstStyle/>
          <a:p>
            <a:pPr marL="0" indent="0">
              <a:buNone/>
            </a:pPr>
            <a:r>
              <a:rPr lang="en-US" sz="1700" b="1" dirty="0">
                <a:solidFill>
                  <a:srgbClr val="172033"/>
                </a:solidFill>
                <a:latin typeface="Calibri" pitchFamily="34" charset="0"/>
                <a:ea typeface="Calibri" pitchFamily="34" charset="-122"/>
                <a:cs typeface="Calibri" pitchFamily="34" charset="-120"/>
              </a:rPr>
              <a:t>Security basics</a:t>
            </a:r>
            <a:endParaRPr lang="en-US" sz="1700" dirty="0"/>
          </a:p>
        </p:txBody>
      </p:sp>
      <p:sp>
        <p:nvSpPr>
          <p:cNvPr id="32" name="Text 25"/>
          <p:cNvSpPr txBox="1"/>
          <p:nvPr/>
        </p:nvSpPr>
        <p:spPr>
          <a:xfrm>
            <a:off x="7010248" y="5404104"/>
            <a:ext cx="4632808" cy="822960"/>
          </a:xfrm>
          <a:prstGeom prst="rect">
            <a:avLst/>
          </a:prstGeom>
          <a:noFill/>
          <a:ln/>
        </p:spPr>
        <p:txBody>
          <a:bodyPr wrap="square" lIns="0" tIns="0" rIns="0" bIns="0" rtlCol="0" anchor="t"/>
          <a:lstStyle/>
          <a:p>
            <a:pPr marL="0" indent="0">
              <a:buNone/>
            </a:pPr>
            <a:r>
              <a:rPr lang="en-US" sz="1450" dirty="0">
                <a:solidFill>
                  <a:srgbClr val="5A6478"/>
                </a:solidFill>
                <a:latin typeface="Calibri" pitchFamily="34" charset="0"/>
                <a:ea typeface="Calibri" pitchFamily="34" charset="-122"/>
                <a:cs typeface="Calibri" pitchFamily="34" charset="-120"/>
              </a:rPr>
              <a:t>bcrypt password hashing, JWT sessions, rate-limited login, Helmet headers, and server-side validation on every request.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8"/>
        </a:solidFill>
        <a:effectLst/>
      </p:bgPr>
    </p:bg>
    <p:spTree>
      <p:nvGrpSpPr>
        <p:cNvPr id="1" name=""/>
        <p:cNvGrpSpPr/>
        <p:nvPr/>
      </p:nvGrpSpPr>
      <p:grpSpPr>
        <a:xfrm>
          <a:off x="0" y="0"/>
          <a:ext cx="0" cy="0"/>
          <a:chOff x="0" y="0"/>
          <a:chExt cx="0" cy="0"/>
        </a:xfrm>
      </p:grpSpPr>
      <p:sp>
        <p:nvSpPr>
          <p:cNvPr id="2" name="Shape 0"/>
          <p:cNvSpPr/>
          <p:nvPr/>
        </p:nvSpPr>
        <p:spPr>
          <a:xfrm>
            <a:off x="548640" y="411480"/>
            <a:ext cx="749808" cy="347472"/>
          </a:xfrm>
          <a:prstGeom prst="roundRect">
            <a:avLst>
              <a:gd name="adj" fmla="val 15789"/>
            </a:avLst>
          </a:prstGeom>
          <a:solidFill>
            <a:srgbClr val="F4B400"/>
          </a:solidFill>
          <a:ln w="12700">
            <a:solidFill>
              <a:srgbClr val="F4B400"/>
            </a:solidFill>
            <a:prstDash val="solid"/>
          </a:ln>
        </p:spPr>
      </p:sp>
      <p:sp>
        <p:nvSpPr>
          <p:cNvPr id="3" name="Text 1"/>
          <p:cNvSpPr txBox="1"/>
          <p:nvPr/>
        </p:nvSpPr>
        <p:spPr>
          <a:xfrm>
            <a:off x="548640" y="411480"/>
            <a:ext cx="749808" cy="347472"/>
          </a:xfrm>
          <a:prstGeom prst="rect">
            <a:avLst/>
          </a:prstGeom>
          <a:noFill/>
          <a:ln/>
        </p:spPr>
        <p:txBody>
          <a:bodyPr wrap="square" lIns="0" tIns="0" rIns="0" bIns="0" rtlCol="0" anchor="ctr"/>
          <a:lstStyle/>
          <a:p>
            <a:pPr marL="0" indent="0" algn="ctr">
              <a:buNone/>
            </a:pPr>
            <a:r>
              <a:rPr lang="en-US" sz="1700" dirty="0">
                <a:solidFill>
                  <a:srgbClr val="172033"/>
                </a:solidFill>
                <a:latin typeface="Bahnschrift SemiBold Condensed" pitchFamily="34" charset="0"/>
                <a:ea typeface="Bahnschrift SemiBold Condensed" pitchFamily="34" charset="-122"/>
                <a:cs typeface="Bahnschrift SemiBold Condensed" pitchFamily="34" charset="-120"/>
              </a:rPr>
              <a:t>A009</a:t>
            </a:r>
            <a:endParaRPr lang="en-US" sz="1700" dirty="0"/>
          </a:p>
        </p:txBody>
      </p:sp>
      <p:sp>
        <p:nvSpPr>
          <p:cNvPr id="4" name="Text 2"/>
          <p:cNvSpPr txBox="1"/>
          <p:nvPr/>
        </p:nvSpPr>
        <p:spPr>
          <a:xfrm>
            <a:off x="1444752" y="411480"/>
            <a:ext cx="5486400" cy="347472"/>
          </a:xfrm>
          <a:prstGeom prst="rect">
            <a:avLst/>
          </a:prstGeom>
          <a:noFill/>
          <a:ln/>
        </p:spPr>
        <p:txBody>
          <a:bodyPr wrap="square" lIns="0" tIns="0" rIns="0" bIns="0" rtlCol="0" anchor="ctr"/>
          <a:lstStyle/>
          <a:p>
            <a:pPr marL="0" indent="0">
              <a:buNone/>
            </a:pPr>
            <a:r>
              <a:rPr lang="en-US" sz="1200" b="1" kern="0" spc="300" dirty="0">
                <a:solidFill>
                  <a:srgbClr val="5A6478"/>
                </a:solidFill>
                <a:latin typeface="Calibri" pitchFamily="34" charset="0"/>
                <a:ea typeface="Calibri" pitchFamily="34" charset="-122"/>
                <a:cs typeface="Calibri" pitchFamily="34" charset="-120"/>
              </a:rPr>
              <a:t>BUILT TO BE TRUSTED</a:t>
            </a:r>
            <a:endParaRPr lang="en-US" sz="1200" dirty="0"/>
          </a:p>
        </p:txBody>
      </p:sp>
      <p:sp>
        <p:nvSpPr>
          <p:cNvPr id="5" name="Text 3"/>
          <p:cNvSpPr txBox="1"/>
          <p:nvPr/>
        </p:nvSpPr>
        <p:spPr>
          <a:xfrm>
            <a:off x="548640" y="896112"/>
            <a:ext cx="11064240" cy="731520"/>
          </a:xfrm>
          <a:prstGeom prst="rect">
            <a:avLst/>
          </a:prstGeom>
          <a:noFill/>
          <a:ln/>
        </p:spPr>
        <p:txBody>
          <a:bodyPr wrap="square" lIns="0" tIns="0" rIns="0" bIns="0" rtlCol="0" anchor="t"/>
          <a:lstStyle/>
          <a:p>
            <a:pPr marL="0" indent="0">
              <a:buNone/>
            </a:pPr>
            <a:r>
              <a:rPr lang="en-US" sz="3400" dirty="0">
                <a:solidFill>
                  <a:srgbClr val="172033"/>
                </a:solidFill>
                <a:latin typeface="Bahnschrift SemiBold" pitchFamily="34" charset="0"/>
                <a:ea typeface="Bahnschrift SemiBold" pitchFamily="34" charset="-122"/>
                <a:cs typeface="Bahnschrift SemiBold" pitchFamily="34" charset="-120"/>
              </a:rPr>
              <a:t>Correct even when everyone taps at once</a:t>
            </a:r>
            <a:endParaRPr lang="en-US" sz="3400" dirty="0"/>
          </a:p>
        </p:txBody>
      </p:sp>
      <p:sp>
        <p:nvSpPr>
          <p:cNvPr id="6" name="Shape 4"/>
          <p:cNvSpPr/>
          <p:nvPr/>
        </p:nvSpPr>
        <p:spPr>
          <a:xfrm>
            <a:off x="548640" y="1874520"/>
            <a:ext cx="2567864" cy="3383280"/>
          </a:xfrm>
          <a:prstGeom prst="roundRect">
            <a:avLst>
              <a:gd name="adj" fmla="val 4273"/>
            </a:avLst>
          </a:prstGeom>
          <a:solidFill>
            <a:srgbClr val="FFFFFF"/>
          </a:solidFill>
          <a:ln w="9525">
            <a:solidFill>
              <a:srgbClr val="E1E6ED"/>
            </a:solidFill>
            <a:prstDash val="solid"/>
          </a:ln>
          <a:effectLst>
            <a:outerShdw blurRad="203200" dist="63500" dir="5400000" algn="bl" rotWithShape="0">
              <a:srgbClr val="0B1020">
                <a:alpha val="8000"/>
              </a:srgbClr>
            </a:outerShdw>
          </a:effectLst>
        </p:spPr>
      </p:sp>
      <p:sp>
        <p:nvSpPr>
          <p:cNvPr id="7" name="Text 5"/>
          <p:cNvSpPr txBox="1"/>
          <p:nvPr/>
        </p:nvSpPr>
        <p:spPr>
          <a:xfrm>
            <a:off x="822960" y="2057400"/>
            <a:ext cx="2019224" cy="1143000"/>
          </a:xfrm>
          <a:prstGeom prst="rect">
            <a:avLst/>
          </a:prstGeom>
          <a:noFill/>
          <a:ln/>
        </p:spPr>
        <p:txBody>
          <a:bodyPr wrap="square" lIns="0" tIns="0" rIns="0" bIns="0" rtlCol="0" anchor="b"/>
          <a:lstStyle/>
          <a:p>
            <a:pPr marL="0" indent="0">
              <a:buNone/>
            </a:pPr>
            <a:r>
              <a:rPr lang="en-US" sz="7200" dirty="0">
                <a:solidFill>
                  <a:srgbClr val="172033"/>
                </a:solidFill>
                <a:latin typeface="Bahnschrift SemiBold Condensed" pitchFamily="34" charset="0"/>
                <a:ea typeface="Bahnschrift SemiBold Condensed" pitchFamily="34" charset="-122"/>
                <a:cs typeface="Bahnschrift SemiBold Condensed" pitchFamily="34" charset="-120"/>
              </a:rPr>
              <a:t>0</a:t>
            </a:r>
            <a:endParaRPr lang="en-US" sz="7200" dirty="0"/>
          </a:p>
        </p:txBody>
      </p:sp>
      <p:sp>
        <p:nvSpPr>
          <p:cNvPr id="8" name="Text 6"/>
          <p:cNvSpPr txBox="1"/>
          <p:nvPr/>
        </p:nvSpPr>
        <p:spPr>
          <a:xfrm>
            <a:off x="822960" y="3291840"/>
            <a:ext cx="2019224" cy="640080"/>
          </a:xfrm>
          <a:prstGeom prst="rect">
            <a:avLst/>
          </a:prstGeom>
          <a:noFill/>
          <a:ln/>
        </p:spPr>
        <p:txBody>
          <a:bodyPr wrap="square" lIns="0" tIns="0" rIns="0" bIns="0" rtlCol="0" anchor="t"/>
          <a:lstStyle/>
          <a:p>
            <a:pPr marL="0" indent="0">
              <a:buNone/>
            </a:pPr>
            <a:r>
              <a:rPr lang="en-US" sz="1700" b="1" dirty="0">
                <a:solidFill>
                  <a:srgbClr val="172033"/>
                </a:solidFill>
                <a:latin typeface="Calibri" pitchFamily="34" charset="0"/>
                <a:ea typeface="Calibri" pitchFamily="34" charset="-122"/>
                <a:cs typeface="Calibri" pitchFamily="34" charset="-120"/>
              </a:rPr>
              <a:t>duplicate tokens</a:t>
            </a:r>
            <a:endParaRPr lang="en-US" sz="1700" dirty="0"/>
          </a:p>
        </p:txBody>
      </p:sp>
      <p:sp>
        <p:nvSpPr>
          <p:cNvPr id="9" name="Text 7"/>
          <p:cNvSpPr txBox="1"/>
          <p:nvPr/>
        </p:nvSpPr>
        <p:spPr>
          <a:xfrm>
            <a:off x="822960" y="3977640"/>
            <a:ext cx="2019224" cy="1371600"/>
          </a:xfrm>
          <a:prstGeom prst="rect">
            <a:avLst/>
          </a:prstGeom>
          <a:noFill/>
          <a:ln/>
        </p:spPr>
        <p:txBody>
          <a:bodyPr wrap="square" lIns="0" tIns="0" rIns="0" bIns="0" rtlCol="0" anchor="t"/>
          <a:lstStyle/>
          <a:p>
            <a:pPr marL="0" indent="0">
              <a:buNone/>
            </a:pPr>
            <a:r>
              <a:rPr lang="en-US" sz="1400" dirty="0">
                <a:solidFill>
                  <a:srgbClr val="5A6478"/>
                </a:solidFill>
                <a:latin typeface="Calibri" pitchFamily="34" charset="0"/>
                <a:ea typeface="Calibri" pitchFamily="34" charset="-122"/>
                <a:cs typeface="Calibri" pitchFamily="34" charset="-120"/>
              </a:rPr>
              <a:t>Six students joining at the same instant received C001 to C006, in order.</a:t>
            </a:r>
            <a:endParaRPr lang="en-US" sz="1400" dirty="0"/>
          </a:p>
        </p:txBody>
      </p:sp>
      <p:sp>
        <p:nvSpPr>
          <p:cNvPr id="10" name="Shape 8"/>
          <p:cNvSpPr/>
          <p:nvPr/>
        </p:nvSpPr>
        <p:spPr>
          <a:xfrm>
            <a:off x="3390824" y="1874520"/>
            <a:ext cx="2567864" cy="3383280"/>
          </a:xfrm>
          <a:prstGeom prst="roundRect">
            <a:avLst>
              <a:gd name="adj" fmla="val 4273"/>
            </a:avLst>
          </a:prstGeom>
          <a:solidFill>
            <a:srgbClr val="FFFFFF"/>
          </a:solidFill>
          <a:ln w="9525">
            <a:solidFill>
              <a:srgbClr val="E1E6ED"/>
            </a:solidFill>
            <a:prstDash val="solid"/>
          </a:ln>
          <a:effectLst>
            <a:outerShdw blurRad="203200" dist="63500" dir="5400000" algn="bl" rotWithShape="0">
              <a:srgbClr val="0B1020">
                <a:alpha val="8000"/>
              </a:srgbClr>
            </a:outerShdw>
          </a:effectLst>
        </p:spPr>
      </p:sp>
      <p:sp>
        <p:nvSpPr>
          <p:cNvPr id="11" name="Text 9"/>
          <p:cNvSpPr txBox="1"/>
          <p:nvPr/>
        </p:nvSpPr>
        <p:spPr>
          <a:xfrm>
            <a:off x="3665144" y="2057400"/>
            <a:ext cx="2019224" cy="1143000"/>
          </a:xfrm>
          <a:prstGeom prst="rect">
            <a:avLst/>
          </a:prstGeom>
          <a:noFill/>
          <a:ln/>
        </p:spPr>
        <p:txBody>
          <a:bodyPr wrap="square" lIns="0" tIns="0" rIns="0" bIns="0" rtlCol="0" anchor="b"/>
          <a:lstStyle/>
          <a:p>
            <a:pPr marL="0" indent="0">
              <a:buNone/>
            </a:pPr>
            <a:r>
              <a:rPr lang="en-US" sz="7200" dirty="0">
                <a:solidFill>
                  <a:srgbClr val="172033"/>
                </a:solidFill>
                <a:latin typeface="Bahnschrift SemiBold Condensed" pitchFamily="34" charset="0"/>
                <a:ea typeface="Bahnschrift SemiBold Condensed" pitchFamily="34" charset="-122"/>
                <a:cs typeface="Bahnschrift SemiBold Condensed" pitchFamily="34" charset="-120"/>
              </a:rPr>
              <a:t>1</a:t>
            </a:r>
            <a:endParaRPr lang="en-US" sz="7200" dirty="0"/>
          </a:p>
        </p:txBody>
      </p:sp>
      <p:sp>
        <p:nvSpPr>
          <p:cNvPr id="12" name="Text 10"/>
          <p:cNvSpPr txBox="1"/>
          <p:nvPr/>
        </p:nvSpPr>
        <p:spPr>
          <a:xfrm>
            <a:off x="3665144" y="3291840"/>
            <a:ext cx="2019224" cy="640080"/>
          </a:xfrm>
          <a:prstGeom prst="rect">
            <a:avLst/>
          </a:prstGeom>
          <a:noFill/>
          <a:ln/>
        </p:spPr>
        <p:txBody>
          <a:bodyPr wrap="square" lIns="0" tIns="0" rIns="0" bIns="0" rtlCol="0" anchor="t"/>
          <a:lstStyle/>
          <a:p>
            <a:pPr marL="0" indent="0">
              <a:buNone/>
            </a:pPr>
            <a:r>
              <a:rPr lang="en-US" sz="1700" b="1" dirty="0">
                <a:solidFill>
                  <a:srgbClr val="172033"/>
                </a:solidFill>
                <a:latin typeface="Calibri" pitchFamily="34" charset="0"/>
                <a:ea typeface="Calibri" pitchFamily="34" charset="-122"/>
                <a:cs typeface="Calibri" pitchFamily="34" charset="-120"/>
              </a:rPr>
              <a:t>token served at a time</a:t>
            </a:r>
            <a:endParaRPr lang="en-US" sz="1700" dirty="0"/>
          </a:p>
        </p:txBody>
      </p:sp>
      <p:sp>
        <p:nvSpPr>
          <p:cNvPr id="13" name="Text 11"/>
          <p:cNvSpPr txBox="1"/>
          <p:nvPr/>
        </p:nvSpPr>
        <p:spPr>
          <a:xfrm>
            <a:off x="3665144" y="3977640"/>
            <a:ext cx="2019224" cy="1371600"/>
          </a:xfrm>
          <a:prstGeom prst="rect">
            <a:avLst/>
          </a:prstGeom>
          <a:noFill/>
          <a:ln/>
        </p:spPr>
        <p:txBody>
          <a:bodyPr wrap="square" lIns="0" tIns="0" rIns="0" bIns="0" rtlCol="0" anchor="t"/>
          <a:lstStyle/>
          <a:p>
            <a:pPr marL="0" indent="0">
              <a:buNone/>
            </a:pPr>
            <a:r>
              <a:rPr lang="en-US" sz="1400" dirty="0">
                <a:solidFill>
                  <a:srgbClr val="5A6478"/>
                </a:solidFill>
                <a:latin typeface="Calibri" pitchFamily="34" charset="0"/>
                <a:ea typeface="Calibri" pitchFamily="34" charset="-122"/>
                <a:cs typeface="Calibri" pitchFamily="34" charset="-120"/>
              </a:rPr>
              <a:t>Rapid repeated “Call next” taps still leave exactly one token being served.</a:t>
            </a:r>
            <a:endParaRPr lang="en-US" sz="1400" dirty="0"/>
          </a:p>
        </p:txBody>
      </p:sp>
      <p:sp>
        <p:nvSpPr>
          <p:cNvPr id="14" name="Shape 12"/>
          <p:cNvSpPr/>
          <p:nvPr/>
        </p:nvSpPr>
        <p:spPr>
          <a:xfrm>
            <a:off x="6233008" y="1874520"/>
            <a:ext cx="2567864" cy="3383280"/>
          </a:xfrm>
          <a:prstGeom prst="roundRect">
            <a:avLst>
              <a:gd name="adj" fmla="val 4273"/>
            </a:avLst>
          </a:prstGeom>
          <a:solidFill>
            <a:srgbClr val="FFFFFF"/>
          </a:solidFill>
          <a:ln w="9525">
            <a:solidFill>
              <a:srgbClr val="E1E6ED"/>
            </a:solidFill>
            <a:prstDash val="solid"/>
          </a:ln>
          <a:effectLst>
            <a:outerShdw blurRad="203200" dist="63500" dir="5400000" algn="bl" rotWithShape="0">
              <a:srgbClr val="0B1020">
                <a:alpha val="8000"/>
              </a:srgbClr>
            </a:outerShdw>
          </a:effectLst>
        </p:spPr>
      </p:sp>
      <p:sp>
        <p:nvSpPr>
          <p:cNvPr id="15" name="Text 13"/>
          <p:cNvSpPr txBox="1"/>
          <p:nvPr/>
        </p:nvSpPr>
        <p:spPr>
          <a:xfrm>
            <a:off x="6507328" y="2057400"/>
            <a:ext cx="2019224" cy="1143000"/>
          </a:xfrm>
          <a:prstGeom prst="rect">
            <a:avLst/>
          </a:prstGeom>
          <a:noFill/>
          <a:ln/>
        </p:spPr>
        <p:txBody>
          <a:bodyPr wrap="square" lIns="0" tIns="0" rIns="0" bIns="0" rtlCol="0" anchor="b"/>
          <a:lstStyle/>
          <a:p>
            <a:pPr marL="0" indent="0">
              <a:buNone/>
            </a:pPr>
            <a:r>
              <a:rPr lang="en-US" sz="7200" dirty="0">
                <a:solidFill>
                  <a:srgbClr val="172033"/>
                </a:solidFill>
                <a:latin typeface="Bahnschrift SemiBold Condensed" pitchFamily="34" charset="0"/>
                <a:ea typeface="Bahnschrift SemiBold Condensed" pitchFamily="34" charset="-122"/>
                <a:cs typeface="Bahnschrift SemiBold Condensed" pitchFamily="34" charset="-120"/>
              </a:rPr>
              <a:t>70+</a:t>
            </a:r>
            <a:endParaRPr lang="en-US" sz="7200" dirty="0"/>
          </a:p>
        </p:txBody>
      </p:sp>
      <p:sp>
        <p:nvSpPr>
          <p:cNvPr id="16" name="Text 14"/>
          <p:cNvSpPr txBox="1"/>
          <p:nvPr/>
        </p:nvSpPr>
        <p:spPr>
          <a:xfrm>
            <a:off x="6507328" y="3291840"/>
            <a:ext cx="2019224" cy="640080"/>
          </a:xfrm>
          <a:prstGeom prst="rect">
            <a:avLst/>
          </a:prstGeom>
          <a:noFill/>
          <a:ln/>
        </p:spPr>
        <p:txBody>
          <a:bodyPr wrap="square" lIns="0" tIns="0" rIns="0" bIns="0" rtlCol="0" anchor="t"/>
          <a:lstStyle/>
          <a:p>
            <a:pPr marL="0" indent="0">
              <a:buNone/>
            </a:pPr>
            <a:r>
              <a:rPr lang="en-US" sz="1700" b="1" dirty="0">
                <a:solidFill>
                  <a:srgbClr val="172033"/>
                </a:solidFill>
                <a:latin typeface="Calibri" pitchFamily="34" charset="0"/>
                <a:ea typeface="Calibri" pitchFamily="34" charset="-122"/>
                <a:cs typeface="Calibri" pitchFamily="34" charset="-120"/>
              </a:rPr>
              <a:t>end-to-end checks</a:t>
            </a:r>
            <a:endParaRPr lang="en-US" sz="1700" dirty="0"/>
          </a:p>
        </p:txBody>
      </p:sp>
      <p:sp>
        <p:nvSpPr>
          <p:cNvPr id="17" name="Text 15"/>
          <p:cNvSpPr txBox="1"/>
          <p:nvPr/>
        </p:nvSpPr>
        <p:spPr>
          <a:xfrm>
            <a:off x="6507328" y="3977640"/>
            <a:ext cx="2019224" cy="1371600"/>
          </a:xfrm>
          <a:prstGeom prst="rect">
            <a:avLst/>
          </a:prstGeom>
          <a:noFill/>
          <a:ln/>
        </p:spPr>
        <p:txBody>
          <a:bodyPr wrap="square" lIns="0" tIns="0" rIns="0" bIns="0" rtlCol="0" anchor="t"/>
          <a:lstStyle/>
          <a:p>
            <a:pPr marL="0" indent="0">
              <a:buNone/>
            </a:pPr>
            <a:r>
              <a:rPr lang="en-US" sz="1400" dirty="0">
                <a:solidFill>
                  <a:srgbClr val="5A6478"/>
                </a:solidFill>
                <a:latin typeface="Calibri" pitchFamily="34" charset="0"/>
                <a:ea typeface="Calibri" pitchFamily="34" charset="-122"/>
                <a:cs typeface="Calibri" pitchFamily="34" charset="-120"/>
              </a:rPr>
              <a:t>One automated command replays the student and staff workflow over REST and Socket.IO.</a:t>
            </a:r>
            <a:endParaRPr lang="en-US" sz="1400" dirty="0"/>
          </a:p>
        </p:txBody>
      </p:sp>
      <p:sp>
        <p:nvSpPr>
          <p:cNvPr id="18" name="Shape 16"/>
          <p:cNvSpPr/>
          <p:nvPr/>
        </p:nvSpPr>
        <p:spPr>
          <a:xfrm>
            <a:off x="9075191" y="1874520"/>
            <a:ext cx="2567864" cy="3383280"/>
          </a:xfrm>
          <a:prstGeom prst="roundRect">
            <a:avLst>
              <a:gd name="adj" fmla="val 4273"/>
            </a:avLst>
          </a:prstGeom>
          <a:solidFill>
            <a:srgbClr val="FFFFFF"/>
          </a:solidFill>
          <a:ln w="9525">
            <a:solidFill>
              <a:srgbClr val="E1E6ED"/>
            </a:solidFill>
            <a:prstDash val="solid"/>
          </a:ln>
          <a:effectLst>
            <a:outerShdw blurRad="203200" dist="63500" dir="5400000" algn="bl" rotWithShape="0">
              <a:srgbClr val="0B1020">
                <a:alpha val="8000"/>
              </a:srgbClr>
            </a:outerShdw>
          </a:effectLst>
        </p:spPr>
      </p:sp>
      <p:sp>
        <p:nvSpPr>
          <p:cNvPr id="19" name="Text 17"/>
          <p:cNvSpPr txBox="1"/>
          <p:nvPr/>
        </p:nvSpPr>
        <p:spPr>
          <a:xfrm>
            <a:off x="9349511" y="2057400"/>
            <a:ext cx="2019224" cy="1143000"/>
          </a:xfrm>
          <a:prstGeom prst="rect">
            <a:avLst/>
          </a:prstGeom>
          <a:noFill/>
          <a:ln/>
        </p:spPr>
        <p:txBody>
          <a:bodyPr wrap="square" lIns="0" tIns="0" rIns="0" bIns="0" rtlCol="0" anchor="b"/>
          <a:lstStyle/>
          <a:p>
            <a:pPr marL="0" indent="0">
              <a:buNone/>
            </a:pPr>
            <a:r>
              <a:rPr lang="en-US" sz="7200" dirty="0">
                <a:solidFill>
                  <a:srgbClr val="172033"/>
                </a:solidFill>
                <a:latin typeface="Bahnschrift SemiBold Condensed" pitchFamily="34" charset="0"/>
                <a:ea typeface="Bahnschrift SemiBold Condensed" pitchFamily="34" charset="-122"/>
                <a:cs typeface="Bahnschrift SemiBold Condensed" pitchFamily="34" charset="-120"/>
              </a:rPr>
              <a:t>3</a:t>
            </a:r>
            <a:endParaRPr lang="en-US" sz="7200" dirty="0"/>
          </a:p>
        </p:txBody>
      </p:sp>
      <p:sp>
        <p:nvSpPr>
          <p:cNvPr id="20" name="Text 18"/>
          <p:cNvSpPr txBox="1"/>
          <p:nvPr/>
        </p:nvSpPr>
        <p:spPr>
          <a:xfrm>
            <a:off x="9349511" y="3291840"/>
            <a:ext cx="2019224" cy="640080"/>
          </a:xfrm>
          <a:prstGeom prst="rect">
            <a:avLst/>
          </a:prstGeom>
          <a:noFill/>
          <a:ln/>
        </p:spPr>
        <p:txBody>
          <a:bodyPr wrap="square" lIns="0" tIns="0" rIns="0" bIns="0" rtlCol="0" anchor="t"/>
          <a:lstStyle/>
          <a:p>
            <a:pPr marL="0" indent="0">
              <a:buNone/>
            </a:pPr>
            <a:r>
              <a:rPr lang="en-US" sz="1700" b="1" dirty="0">
                <a:solidFill>
                  <a:srgbClr val="172033"/>
                </a:solidFill>
                <a:latin typeface="Calibri" pitchFamily="34" charset="0"/>
                <a:ea typeface="Calibri" pitchFamily="34" charset="-122"/>
                <a:cs typeface="Calibri" pitchFamily="34" charset="-120"/>
              </a:rPr>
              <a:t>roles, enforced by the server</a:t>
            </a:r>
            <a:endParaRPr lang="en-US" sz="1700" dirty="0"/>
          </a:p>
        </p:txBody>
      </p:sp>
      <p:sp>
        <p:nvSpPr>
          <p:cNvPr id="21" name="Text 19"/>
          <p:cNvSpPr txBox="1"/>
          <p:nvPr/>
        </p:nvSpPr>
        <p:spPr>
          <a:xfrm>
            <a:off x="9349511" y="3977640"/>
            <a:ext cx="2019224" cy="1371600"/>
          </a:xfrm>
          <a:prstGeom prst="rect">
            <a:avLst/>
          </a:prstGeom>
          <a:noFill/>
          <a:ln/>
        </p:spPr>
        <p:txBody>
          <a:bodyPr wrap="square" lIns="0" tIns="0" rIns="0" bIns="0" rtlCol="0" anchor="t"/>
          <a:lstStyle/>
          <a:p>
            <a:pPr marL="0" indent="0">
              <a:buNone/>
            </a:pPr>
            <a:r>
              <a:rPr lang="en-US" sz="1400" dirty="0">
                <a:solidFill>
                  <a:srgbClr val="5A6478"/>
                </a:solidFill>
                <a:latin typeface="Calibri" pitchFamily="34" charset="0"/>
                <a:ea typeface="Calibri" pitchFamily="34" charset="-122"/>
                <a:cs typeface="Calibri" pitchFamily="34" charset="-120"/>
              </a:rPr>
              <a:t>Staff can only run counters assigned to them; the API refuses anything else.</a:t>
            </a:r>
            <a:endParaRPr lang="en-US" sz="1400" dirty="0"/>
          </a:p>
        </p:txBody>
      </p:sp>
      <p:sp>
        <p:nvSpPr>
          <p:cNvPr id="22" name="Shape 20"/>
          <p:cNvSpPr/>
          <p:nvPr/>
        </p:nvSpPr>
        <p:spPr>
          <a:xfrm>
            <a:off x="548640" y="5577840"/>
            <a:ext cx="11094415" cy="640080"/>
          </a:xfrm>
          <a:prstGeom prst="roundRect">
            <a:avLst>
              <a:gd name="adj" fmla="val 14286"/>
            </a:avLst>
          </a:prstGeom>
          <a:solidFill>
            <a:srgbClr val="172033"/>
          </a:solidFill>
          <a:ln w="12700">
            <a:solidFill>
              <a:srgbClr val="172033"/>
            </a:solidFill>
            <a:prstDash val="solid"/>
          </a:ln>
        </p:spPr>
      </p:sp>
      <p:sp>
        <p:nvSpPr>
          <p:cNvPr id="23" name="Text 21"/>
          <p:cNvSpPr txBox="1"/>
          <p:nvPr/>
        </p:nvSpPr>
        <p:spPr>
          <a:xfrm>
            <a:off x="822960" y="5577840"/>
            <a:ext cx="10607040" cy="640080"/>
          </a:xfrm>
          <a:prstGeom prst="rect">
            <a:avLst/>
          </a:prstGeom>
          <a:noFill/>
          <a:ln/>
        </p:spPr>
        <p:txBody>
          <a:bodyPr wrap="square" lIns="0" tIns="0" rIns="0" bIns="0" rtlCol="0" anchor="ctr"/>
          <a:lstStyle/>
          <a:p>
            <a:pPr marL="0" indent="0">
              <a:buNone/>
            </a:pPr>
            <a:r>
              <a:rPr lang="en-US" sz="1600" b="1" dirty="0">
                <a:solidFill>
                  <a:srgbClr val="F4B400"/>
                </a:solidFill>
                <a:latin typeface="Calibri" pitchFamily="34" charset="0"/>
                <a:ea typeface="Calibri" pitchFamily="34" charset="-122"/>
                <a:cs typeface="Calibri" pitchFamily="34" charset="-120"/>
              </a:rPr>
              <a:t>Enforced in MySQL </a:t>
            </a:r>
            <a:r>
              <a:rPr lang="en-US" sz="1600" dirty="0">
                <a:solidFill>
                  <a:srgbClr val="FFFFFF"/>
                </a:solidFill>
                <a:latin typeface="Calibri" pitchFamily="34" charset="0"/>
                <a:ea typeface="Calibri" pitchFamily="34" charset="-122"/>
                <a:cs typeface="Calibri" pitchFamily="34" charset="-120"/>
              </a:rPr>
              <a:t>with row locks and UNIQUE indexes, not just hidden buttons in the UI.</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033"/>
        </a:solidFill>
        <a:effectLst/>
      </p:bgPr>
    </p:bg>
    <p:spTree>
      <p:nvGrpSpPr>
        <p:cNvPr id="1" name=""/>
        <p:cNvGrpSpPr/>
        <p:nvPr/>
      </p:nvGrpSpPr>
      <p:grpSpPr>
        <a:xfrm>
          <a:off x="0" y="0"/>
          <a:ext cx="0" cy="0"/>
          <a:chOff x="0" y="0"/>
          <a:chExt cx="0" cy="0"/>
        </a:xfrm>
      </p:grpSpPr>
      <p:sp>
        <p:nvSpPr>
          <p:cNvPr id="2" name="Shape 0"/>
          <p:cNvSpPr/>
          <p:nvPr/>
        </p:nvSpPr>
        <p:spPr>
          <a:xfrm>
            <a:off x="548640" y="411480"/>
            <a:ext cx="749808" cy="347472"/>
          </a:xfrm>
          <a:prstGeom prst="roundRect">
            <a:avLst>
              <a:gd name="adj" fmla="val 15789"/>
            </a:avLst>
          </a:prstGeom>
          <a:solidFill>
            <a:srgbClr val="F4B400"/>
          </a:solidFill>
          <a:ln w="12700">
            <a:solidFill>
              <a:srgbClr val="F4B400"/>
            </a:solidFill>
            <a:prstDash val="solid"/>
          </a:ln>
        </p:spPr>
      </p:sp>
      <p:sp>
        <p:nvSpPr>
          <p:cNvPr id="3" name="Text 1"/>
          <p:cNvSpPr txBox="1"/>
          <p:nvPr/>
        </p:nvSpPr>
        <p:spPr>
          <a:xfrm>
            <a:off x="548640" y="411480"/>
            <a:ext cx="749808" cy="347472"/>
          </a:xfrm>
          <a:prstGeom prst="rect">
            <a:avLst/>
          </a:prstGeom>
          <a:noFill/>
          <a:ln/>
        </p:spPr>
        <p:txBody>
          <a:bodyPr wrap="square" lIns="0" tIns="0" rIns="0" bIns="0" rtlCol="0" anchor="ctr"/>
          <a:lstStyle/>
          <a:p>
            <a:pPr marL="0" indent="0" algn="ctr">
              <a:buNone/>
            </a:pPr>
            <a:r>
              <a:rPr lang="en-US" sz="1700" dirty="0">
                <a:solidFill>
                  <a:srgbClr val="172033"/>
                </a:solidFill>
                <a:latin typeface="Bahnschrift SemiBold Condensed" pitchFamily="34" charset="0"/>
                <a:ea typeface="Bahnschrift SemiBold Condensed" pitchFamily="34" charset="-122"/>
                <a:cs typeface="Bahnschrift SemiBold Condensed" pitchFamily="34" charset="-120"/>
              </a:rPr>
              <a:t>A010</a:t>
            </a:r>
            <a:endParaRPr lang="en-US" sz="1700" dirty="0"/>
          </a:p>
        </p:txBody>
      </p:sp>
      <p:sp>
        <p:nvSpPr>
          <p:cNvPr id="4" name="Text 2"/>
          <p:cNvSpPr txBox="1"/>
          <p:nvPr/>
        </p:nvSpPr>
        <p:spPr>
          <a:xfrm>
            <a:off x="1444752" y="411480"/>
            <a:ext cx="5486400" cy="347472"/>
          </a:xfrm>
          <a:prstGeom prst="rect">
            <a:avLst/>
          </a:prstGeom>
          <a:noFill/>
          <a:ln/>
        </p:spPr>
        <p:txBody>
          <a:bodyPr wrap="square" lIns="0" tIns="0" rIns="0" bIns="0" rtlCol="0" anchor="ctr"/>
          <a:lstStyle/>
          <a:p>
            <a:pPr marL="0" indent="0">
              <a:buNone/>
            </a:pPr>
            <a:r>
              <a:rPr lang="en-US" sz="1200" b="1" kern="0" spc="300" dirty="0">
                <a:solidFill>
                  <a:srgbClr val="9AA6BC"/>
                </a:solidFill>
                <a:latin typeface="Calibri" pitchFamily="34" charset="0"/>
                <a:ea typeface="Calibri" pitchFamily="34" charset="-122"/>
                <a:cs typeface="Calibri" pitchFamily="34" charset="-120"/>
              </a:rPr>
              <a:t>WHAT’S NEXT</a:t>
            </a:r>
            <a:endParaRPr lang="en-US" sz="1200" dirty="0"/>
          </a:p>
        </p:txBody>
      </p:sp>
      <p:sp>
        <p:nvSpPr>
          <p:cNvPr id="5" name="Text 3"/>
          <p:cNvSpPr txBox="1"/>
          <p:nvPr/>
        </p:nvSpPr>
        <p:spPr>
          <a:xfrm>
            <a:off x="548640" y="896112"/>
            <a:ext cx="5852160" cy="731520"/>
          </a:xfrm>
          <a:prstGeom prst="rect">
            <a:avLst/>
          </a:prstGeom>
          <a:noFill/>
          <a:ln/>
        </p:spPr>
        <p:txBody>
          <a:bodyPr wrap="square" lIns="0" tIns="0" rIns="0" bIns="0" rtlCol="0" anchor="t"/>
          <a:lstStyle/>
          <a:p>
            <a:pPr marL="0" indent="0">
              <a:buNone/>
            </a:pPr>
            <a:r>
              <a:rPr lang="en-US" sz="3400" dirty="0">
                <a:solidFill>
                  <a:srgbClr val="FFFFFF"/>
                </a:solidFill>
                <a:latin typeface="Bahnschrift SemiBold" pitchFamily="34" charset="0"/>
                <a:ea typeface="Bahnschrift SemiBold" pitchFamily="34" charset="-122"/>
                <a:cs typeface="Bahnschrift SemiBold" pitchFamily="34" charset="-120"/>
              </a:rPr>
              <a:t>Where CampusQ goes next</a:t>
            </a:r>
            <a:endParaRPr lang="en-US" sz="3400" dirty="0"/>
          </a:p>
        </p:txBody>
      </p:sp>
      <p:sp>
        <p:nvSpPr>
          <p:cNvPr id="6" name="Shape 4"/>
          <p:cNvSpPr/>
          <p:nvPr/>
        </p:nvSpPr>
        <p:spPr>
          <a:xfrm>
            <a:off x="548640" y="1828800"/>
            <a:ext cx="548640" cy="548640"/>
          </a:xfrm>
          <a:prstGeom prst="ellipse">
            <a:avLst/>
          </a:prstGeom>
          <a:solidFill>
            <a:srgbClr val="F4B400"/>
          </a:solidFill>
          <a:ln w="12700">
            <a:solidFill>
              <a:srgbClr val="F4B400"/>
            </a:solidFill>
            <a:prstDash val="solid"/>
          </a:ln>
        </p:spPr>
      </p:sp>
      <p:pic>
        <p:nvPicPr>
          <p:cNvPr id="7" name="Image 0" descr="preencoded.png"/>
          <p:cNvPicPr>
            <a:picLocks noChangeAspect="1"/>
          </p:cNvPicPr>
          <p:nvPr/>
        </p:nvPicPr>
        <p:blipFill>
          <a:blip r:embed="rId3"/>
          <a:stretch>
            <a:fillRect/>
          </a:stretch>
        </p:blipFill>
        <p:spPr>
          <a:xfrm>
            <a:off x="674827" y="1954987"/>
            <a:ext cx="296266" cy="296266"/>
          </a:xfrm>
          <a:prstGeom prst="rect">
            <a:avLst/>
          </a:prstGeom>
        </p:spPr>
      </p:pic>
      <p:sp>
        <p:nvSpPr>
          <p:cNvPr id="8" name="Text 5"/>
          <p:cNvSpPr txBox="1"/>
          <p:nvPr/>
        </p:nvSpPr>
        <p:spPr>
          <a:xfrm>
            <a:off x="1325880" y="1801368"/>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SMS and WhatsApp alerts</a:t>
            </a:r>
            <a:endParaRPr lang="en-US" sz="1800" dirty="0"/>
          </a:p>
        </p:txBody>
      </p:sp>
      <p:sp>
        <p:nvSpPr>
          <p:cNvPr id="9" name="Text 6"/>
          <p:cNvSpPr txBox="1"/>
          <p:nvPr/>
        </p:nvSpPr>
        <p:spPr>
          <a:xfrm>
            <a:off x="1325880" y="2139696"/>
            <a:ext cx="4846320" cy="365760"/>
          </a:xfrm>
          <a:prstGeom prst="rect">
            <a:avLst/>
          </a:prstGeom>
          <a:noFill/>
          <a:ln/>
        </p:spPr>
        <p:txBody>
          <a:bodyPr wrap="square" lIns="0" tIns="0" rIns="0" bIns="0" rtlCol="0" anchor="ctr"/>
          <a:lstStyle/>
          <a:p>
            <a:pPr marL="0" indent="0">
              <a:buNone/>
            </a:pPr>
            <a:r>
              <a:rPr lang="en-US" sz="1400" dirty="0">
                <a:solidFill>
                  <a:srgbClr val="9AA6BC"/>
                </a:solidFill>
                <a:latin typeface="Calibri" pitchFamily="34" charset="0"/>
                <a:ea typeface="Calibri" pitchFamily="34" charset="-122"/>
                <a:cs typeface="Calibri" pitchFamily="34" charset="-120"/>
              </a:rPr>
              <a:t>Reach students who are offline or low on data.</a:t>
            </a:r>
            <a:endParaRPr lang="en-US" sz="1400" dirty="0"/>
          </a:p>
        </p:txBody>
      </p:sp>
      <p:sp>
        <p:nvSpPr>
          <p:cNvPr id="10" name="Shape 7"/>
          <p:cNvSpPr/>
          <p:nvPr/>
        </p:nvSpPr>
        <p:spPr>
          <a:xfrm>
            <a:off x="548640" y="2907792"/>
            <a:ext cx="548640" cy="548640"/>
          </a:xfrm>
          <a:prstGeom prst="ellipse">
            <a:avLst/>
          </a:prstGeom>
          <a:solidFill>
            <a:srgbClr val="F4B400"/>
          </a:solidFill>
          <a:ln w="12700">
            <a:solidFill>
              <a:srgbClr val="F4B400"/>
            </a:solidFill>
            <a:prstDash val="solid"/>
          </a:ln>
        </p:spPr>
      </p:sp>
      <p:pic>
        <p:nvPicPr>
          <p:cNvPr id="11" name="Image 1" descr="preencoded.png"/>
          <p:cNvPicPr>
            <a:picLocks noChangeAspect="1"/>
          </p:cNvPicPr>
          <p:nvPr/>
        </p:nvPicPr>
        <p:blipFill>
          <a:blip r:embed="rId4"/>
          <a:stretch>
            <a:fillRect/>
          </a:stretch>
        </p:blipFill>
        <p:spPr>
          <a:xfrm>
            <a:off x="674827" y="3033979"/>
            <a:ext cx="296266" cy="296266"/>
          </a:xfrm>
          <a:prstGeom prst="rect">
            <a:avLst/>
          </a:prstGeom>
        </p:spPr>
      </p:pic>
      <p:sp>
        <p:nvSpPr>
          <p:cNvPr id="12" name="Text 8"/>
          <p:cNvSpPr txBox="1"/>
          <p:nvPr/>
        </p:nvSpPr>
        <p:spPr>
          <a:xfrm>
            <a:off x="1325880" y="2880360"/>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QR code at every counter</a:t>
            </a:r>
            <a:endParaRPr lang="en-US" sz="1800" dirty="0"/>
          </a:p>
        </p:txBody>
      </p:sp>
      <p:sp>
        <p:nvSpPr>
          <p:cNvPr id="13" name="Text 9"/>
          <p:cNvSpPr txBox="1"/>
          <p:nvPr/>
        </p:nvSpPr>
        <p:spPr>
          <a:xfrm>
            <a:off x="1325880" y="3218688"/>
            <a:ext cx="4846320" cy="365760"/>
          </a:xfrm>
          <a:prstGeom prst="rect">
            <a:avLst/>
          </a:prstGeom>
          <a:noFill/>
          <a:ln/>
        </p:spPr>
        <p:txBody>
          <a:bodyPr wrap="square" lIns="0" tIns="0" rIns="0" bIns="0" rtlCol="0" anchor="ctr"/>
          <a:lstStyle/>
          <a:p>
            <a:pPr marL="0" indent="0">
              <a:buNone/>
            </a:pPr>
            <a:r>
              <a:rPr lang="en-US" sz="1400" dirty="0">
                <a:solidFill>
                  <a:srgbClr val="9AA6BC"/>
                </a:solidFill>
                <a:latin typeface="Calibri" pitchFamily="34" charset="0"/>
                <a:ea typeface="Calibri" pitchFamily="34" charset="-122"/>
                <a:cs typeface="Calibri" pitchFamily="34" charset="-120"/>
              </a:rPr>
              <a:t>Scan to join the queue in seconds.</a:t>
            </a:r>
            <a:endParaRPr lang="en-US" sz="1400" dirty="0"/>
          </a:p>
        </p:txBody>
      </p:sp>
      <p:sp>
        <p:nvSpPr>
          <p:cNvPr id="14" name="Shape 10"/>
          <p:cNvSpPr/>
          <p:nvPr/>
        </p:nvSpPr>
        <p:spPr>
          <a:xfrm>
            <a:off x="548640" y="3986784"/>
            <a:ext cx="548640" cy="548640"/>
          </a:xfrm>
          <a:prstGeom prst="ellipse">
            <a:avLst/>
          </a:prstGeom>
          <a:solidFill>
            <a:srgbClr val="F4B400"/>
          </a:solidFill>
          <a:ln w="12700">
            <a:solidFill>
              <a:srgbClr val="F4B400"/>
            </a:solidFill>
            <a:prstDash val="solid"/>
          </a:ln>
        </p:spPr>
      </p:sp>
      <p:pic>
        <p:nvPicPr>
          <p:cNvPr id="15" name="Image 2" descr="preencoded.png"/>
          <p:cNvPicPr>
            <a:picLocks noChangeAspect="1"/>
          </p:cNvPicPr>
          <p:nvPr/>
        </p:nvPicPr>
        <p:blipFill>
          <a:blip r:embed="rId5"/>
          <a:stretch>
            <a:fillRect/>
          </a:stretch>
        </p:blipFill>
        <p:spPr>
          <a:xfrm>
            <a:off x="674827" y="4112971"/>
            <a:ext cx="296266" cy="296266"/>
          </a:xfrm>
          <a:prstGeom prst="rect">
            <a:avLst/>
          </a:prstGeom>
        </p:spPr>
      </p:pic>
      <p:sp>
        <p:nvSpPr>
          <p:cNvPr id="16" name="Text 11"/>
          <p:cNvSpPr txBox="1"/>
          <p:nvPr/>
        </p:nvSpPr>
        <p:spPr>
          <a:xfrm>
            <a:off x="1325880" y="3959352"/>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Peak-hour insights</a:t>
            </a:r>
            <a:endParaRPr lang="en-US" sz="1800" dirty="0"/>
          </a:p>
        </p:txBody>
      </p:sp>
      <p:sp>
        <p:nvSpPr>
          <p:cNvPr id="17" name="Text 12"/>
          <p:cNvSpPr txBox="1"/>
          <p:nvPr/>
        </p:nvSpPr>
        <p:spPr>
          <a:xfrm>
            <a:off x="1325880" y="4297680"/>
            <a:ext cx="4846320" cy="365760"/>
          </a:xfrm>
          <a:prstGeom prst="rect">
            <a:avLst/>
          </a:prstGeom>
          <a:noFill/>
          <a:ln/>
        </p:spPr>
        <p:txBody>
          <a:bodyPr wrap="square" lIns="0" tIns="0" rIns="0" bIns="0" rtlCol="0" anchor="ctr"/>
          <a:lstStyle/>
          <a:p>
            <a:pPr marL="0" indent="0">
              <a:buNone/>
            </a:pPr>
            <a:r>
              <a:rPr lang="en-US" sz="1400" dirty="0">
                <a:solidFill>
                  <a:srgbClr val="9AA6BC"/>
                </a:solidFill>
                <a:latin typeface="Calibri" pitchFamily="34" charset="0"/>
                <a:ea typeface="Calibri" pitchFamily="34" charset="-122"/>
                <a:cs typeface="Calibri" pitchFamily="34" charset="-120"/>
              </a:rPr>
              <a:t>Help offices plan staffing for busy days.</a:t>
            </a:r>
            <a:endParaRPr lang="en-US" sz="1400" dirty="0"/>
          </a:p>
        </p:txBody>
      </p:sp>
      <p:sp>
        <p:nvSpPr>
          <p:cNvPr id="18" name="Shape 13"/>
          <p:cNvSpPr/>
          <p:nvPr/>
        </p:nvSpPr>
        <p:spPr>
          <a:xfrm>
            <a:off x="548640" y="5065776"/>
            <a:ext cx="548640" cy="548640"/>
          </a:xfrm>
          <a:prstGeom prst="ellipse">
            <a:avLst/>
          </a:prstGeom>
          <a:solidFill>
            <a:srgbClr val="F4B400"/>
          </a:solidFill>
          <a:ln w="12700">
            <a:solidFill>
              <a:srgbClr val="F4B400"/>
            </a:solidFill>
            <a:prstDash val="solid"/>
          </a:ln>
        </p:spPr>
      </p:sp>
      <p:pic>
        <p:nvPicPr>
          <p:cNvPr id="19" name="Image 3" descr="preencoded.png"/>
          <p:cNvPicPr>
            <a:picLocks noChangeAspect="1"/>
          </p:cNvPicPr>
          <p:nvPr/>
        </p:nvPicPr>
        <p:blipFill>
          <a:blip r:embed="rId6"/>
          <a:stretch>
            <a:fillRect/>
          </a:stretch>
        </p:blipFill>
        <p:spPr>
          <a:xfrm>
            <a:off x="674827" y="5191963"/>
            <a:ext cx="296266" cy="296266"/>
          </a:xfrm>
          <a:prstGeom prst="rect">
            <a:avLst/>
          </a:prstGeom>
        </p:spPr>
      </p:pic>
      <p:sp>
        <p:nvSpPr>
          <p:cNvPr id="20" name="Text 14"/>
          <p:cNvSpPr txBox="1"/>
          <p:nvPr/>
        </p:nvSpPr>
        <p:spPr>
          <a:xfrm>
            <a:off x="1325880" y="5038344"/>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Campus-wide rollout</a:t>
            </a:r>
            <a:endParaRPr lang="en-US" sz="1800" dirty="0"/>
          </a:p>
        </p:txBody>
      </p:sp>
      <p:sp>
        <p:nvSpPr>
          <p:cNvPr id="21" name="Text 15"/>
          <p:cNvSpPr txBox="1"/>
          <p:nvPr/>
        </p:nvSpPr>
        <p:spPr>
          <a:xfrm>
            <a:off x="1325880" y="5376672"/>
            <a:ext cx="4846320" cy="365760"/>
          </a:xfrm>
          <a:prstGeom prst="rect">
            <a:avLst/>
          </a:prstGeom>
          <a:noFill/>
          <a:ln/>
        </p:spPr>
        <p:txBody>
          <a:bodyPr wrap="square" lIns="0" tIns="0" rIns="0" bIns="0" rtlCol="0" anchor="ctr"/>
          <a:lstStyle/>
          <a:p>
            <a:pPr marL="0" indent="0">
              <a:buNone/>
            </a:pPr>
            <a:r>
              <a:rPr lang="en-US" sz="1400" dirty="0">
                <a:solidFill>
                  <a:srgbClr val="9AA6BC"/>
                </a:solidFill>
                <a:latin typeface="Calibri" pitchFamily="34" charset="0"/>
                <a:ea typeface="Calibri" pitchFamily="34" charset="-122"/>
                <a:cs typeface="Calibri" pitchFamily="34" charset="-120"/>
              </a:rPr>
              <a:t>Every department and campus on one system.</a:t>
            </a:r>
            <a:endParaRPr lang="en-US" sz="1400" dirty="0"/>
          </a:p>
        </p:txBody>
      </p:sp>
      <p:sp>
        <p:nvSpPr>
          <p:cNvPr id="22" name="Shape 16"/>
          <p:cNvSpPr/>
          <p:nvPr/>
        </p:nvSpPr>
        <p:spPr>
          <a:xfrm>
            <a:off x="6720840" y="822960"/>
            <a:ext cx="4922215" cy="5440680"/>
          </a:xfrm>
          <a:prstGeom prst="roundRect">
            <a:avLst>
              <a:gd name="adj" fmla="val 2972"/>
            </a:avLst>
          </a:prstGeom>
          <a:solidFill>
            <a:srgbClr val="24304A"/>
          </a:solidFill>
          <a:ln w="12700">
            <a:solidFill>
              <a:srgbClr val="3A4760"/>
            </a:solidFill>
            <a:prstDash val="solid"/>
          </a:ln>
        </p:spPr>
      </p:sp>
      <p:sp>
        <p:nvSpPr>
          <p:cNvPr id="23" name="Text 17"/>
          <p:cNvSpPr txBox="1"/>
          <p:nvPr/>
        </p:nvSpPr>
        <p:spPr>
          <a:xfrm>
            <a:off x="7178040" y="1188720"/>
            <a:ext cx="4007815" cy="274320"/>
          </a:xfrm>
          <a:prstGeom prst="rect">
            <a:avLst/>
          </a:prstGeom>
          <a:noFill/>
          <a:ln/>
        </p:spPr>
        <p:txBody>
          <a:bodyPr wrap="square" lIns="0" tIns="0" rIns="0" bIns="0" rtlCol="0" anchor="ctr"/>
          <a:lstStyle/>
          <a:p>
            <a:pPr marL="0" indent="0">
              <a:buNone/>
            </a:pPr>
            <a:endParaRPr lang="en-US" sz="1100" dirty="0"/>
          </a:p>
        </p:txBody>
      </p:sp>
      <p:sp>
        <p:nvSpPr>
          <p:cNvPr id="24" name="Text 18"/>
          <p:cNvSpPr txBox="1"/>
          <p:nvPr/>
        </p:nvSpPr>
        <p:spPr>
          <a:xfrm>
            <a:off x="7178040" y="1683245"/>
            <a:ext cx="3916058" cy="1417317"/>
          </a:xfrm>
          <a:prstGeom prst="rect">
            <a:avLst/>
          </a:prstGeom>
          <a:noFill/>
          <a:ln/>
        </p:spPr>
        <p:txBody>
          <a:bodyPr wrap="square" lIns="0" tIns="0" rIns="0" bIns="0" rtlCol="0" anchor="t"/>
          <a:lstStyle/>
          <a:p>
            <a:pPr marL="0" indent="0">
              <a:buNone/>
            </a:pPr>
            <a:r>
              <a:rPr lang="en-US" sz="8500" dirty="0">
                <a:solidFill>
                  <a:srgbClr val="F4B400"/>
                </a:solidFill>
                <a:latin typeface="Bahnschrift SemiBold Condensed" pitchFamily="34" charset="0"/>
                <a:ea typeface="Bahnschrift SemiBold Condensed" pitchFamily="34" charset="-122"/>
                <a:cs typeface="Bahnschrift SemiBold Condensed" pitchFamily="34" charset="-120"/>
              </a:rPr>
              <a:t>Thank you</a:t>
            </a:r>
            <a:endParaRPr lang="en-US" sz="8500" dirty="0"/>
          </a:p>
        </p:txBody>
      </p:sp>
      <p:sp>
        <p:nvSpPr>
          <p:cNvPr id="26" name="Shape 20"/>
          <p:cNvSpPr/>
          <p:nvPr/>
        </p:nvSpPr>
        <p:spPr>
          <a:xfrm>
            <a:off x="7178040" y="3429000"/>
            <a:ext cx="4007815" cy="0"/>
          </a:xfrm>
          <a:prstGeom prst="line">
            <a:avLst/>
          </a:prstGeom>
          <a:noFill/>
          <a:ln w="12700">
            <a:solidFill>
              <a:srgbClr val="3A4760"/>
            </a:solidFill>
            <a:prstDash val="dash"/>
          </a:ln>
        </p:spPr>
      </p:sp>
      <p:sp>
        <p:nvSpPr>
          <p:cNvPr id="27" name="Text 21"/>
          <p:cNvSpPr txBox="1"/>
          <p:nvPr/>
        </p:nvSpPr>
        <p:spPr>
          <a:xfrm>
            <a:off x="7178040" y="3703320"/>
            <a:ext cx="4007815"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Parnavi Sharma</a:t>
            </a:r>
            <a:endParaRPr lang="en-US" sz="1900" dirty="0"/>
          </a:p>
        </p:txBody>
      </p:sp>
      <p:sp>
        <p:nvSpPr>
          <p:cNvPr id="28" name="Text 22"/>
          <p:cNvSpPr txBox="1"/>
          <p:nvPr/>
        </p:nvSpPr>
        <p:spPr>
          <a:xfrm>
            <a:off x="7178040" y="4069080"/>
            <a:ext cx="4007815" cy="292608"/>
          </a:xfrm>
          <a:prstGeom prst="rect">
            <a:avLst/>
          </a:prstGeom>
          <a:noFill/>
          <a:ln/>
        </p:spPr>
        <p:txBody>
          <a:bodyPr wrap="square" lIns="0" tIns="0" rIns="0" bIns="0" rtlCol="0" anchor="ctr"/>
          <a:lstStyle/>
          <a:p>
            <a:pPr marL="0" indent="0">
              <a:buNone/>
            </a:pPr>
            <a:r>
              <a:rPr lang="en-US" sz="1400" dirty="0">
                <a:solidFill>
                  <a:srgbClr val="9AA6BC"/>
                </a:solidFill>
                <a:latin typeface="Calibri" pitchFamily="34" charset="0"/>
                <a:ea typeface="Calibri" pitchFamily="34" charset="-122"/>
                <a:cs typeface="Calibri" pitchFamily="34" charset="-120"/>
              </a:rPr>
              <a:t>RA2411003010038</a:t>
            </a:r>
            <a:endParaRPr lang="en-US" sz="1400" dirty="0"/>
          </a:p>
        </p:txBody>
      </p:sp>
      <p:sp>
        <p:nvSpPr>
          <p:cNvPr id="29" name="Text 23"/>
          <p:cNvSpPr txBox="1"/>
          <p:nvPr/>
        </p:nvSpPr>
        <p:spPr>
          <a:xfrm>
            <a:off x="7178040" y="4572000"/>
            <a:ext cx="4007815"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Diya Wadhwani</a:t>
            </a:r>
            <a:endParaRPr lang="en-US" sz="1900" dirty="0"/>
          </a:p>
        </p:txBody>
      </p:sp>
      <p:sp>
        <p:nvSpPr>
          <p:cNvPr id="30" name="Text 24"/>
          <p:cNvSpPr txBox="1"/>
          <p:nvPr/>
        </p:nvSpPr>
        <p:spPr>
          <a:xfrm>
            <a:off x="7178040" y="4937760"/>
            <a:ext cx="4007815" cy="292608"/>
          </a:xfrm>
          <a:prstGeom prst="rect">
            <a:avLst/>
          </a:prstGeom>
          <a:noFill/>
          <a:ln/>
        </p:spPr>
        <p:txBody>
          <a:bodyPr wrap="square" lIns="0" tIns="0" rIns="0" bIns="0" rtlCol="0" anchor="ctr"/>
          <a:lstStyle/>
          <a:p>
            <a:pPr marL="0" indent="0">
              <a:buNone/>
            </a:pPr>
            <a:r>
              <a:rPr lang="en-US" sz="1400" dirty="0">
                <a:solidFill>
                  <a:srgbClr val="9AA6BC"/>
                </a:solidFill>
                <a:latin typeface="Calibri" pitchFamily="34" charset="0"/>
                <a:ea typeface="Calibri" pitchFamily="34" charset="-122"/>
                <a:cs typeface="Calibri" pitchFamily="34" charset="-120"/>
              </a:rPr>
              <a:t>RA2411003010039</a:t>
            </a:r>
            <a:endParaRPr lang="en-US" sz="1400" dirty="0"/>
          </a:p>
        </p:txBody>
      </p:sp>
      <p:sp>
        <p:nvSpPr>
          <p:cNvPr id="31" name="Text 25"/>
          <p:cNvSpPr txBox="1"/>
          <p:nvPr/>
        </p:nvSpPr>
        <p:spPr>
          <a:xfrm>
            <a:off x="7178040" y="5577840"/>
            <a:ext cx="4007815" cy="320040"/>
          </a:xfrm>
          <a:prstGeom prst="rect">
            <a:avLst/>
          </a:prstGeom>
          <a:noFill/>
          <a:ln/>
        </p:spPr>
        <p:txBody>
          <a:bodyPr wrap="square" lIns="0" tIns="0" rIns="0" bIns="0" rtlCol="0" anchor="ctr"/>
          <a:lstStyle/>
          <a:p>
            <a:pPr marL="0" indent="0">
              <a:buNone/>
            </a:pPr>
            <a:r>
              <a:rPr lang="en-US" sz="1300" i="1" dirty="0">
                <a:solidFill>
                  <a:srgbClr val="9AA6BC"/>
                </a:solidFill>
                <a:latin typeface="Calibri" pitchFamily="34" charset="0"/>
                <a:ea typeface="Calibri" pitchFamily="34" charset="-122"/>
                <a:cs typeface="Calibri" pitchFamily="34" charset="-120"/>
              </a:rPr>
              <a:t>CampusQ · Skip the line, not the class.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1440</Words>
  <Application>Microsoft Office PowerPoint</Application>
  <PresentationFormat>Widescreen</PresentationFormat>
  <Paragraphs>176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Bahnschrift SemiBold</vt:lpstr>
      <vt:lpstr>Bahnschrift SemiBold Condensed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CampusQ — Smart Campus Queues</dc:title>
  <dc:subject>PptxGenJS Presentation</dc:subject>
  <dc:creator>Parnavi Sharma, Diya Wadhwani</dc:creator>
  <cp:lastModifiedBy>Parnavi Sharma</cp:lastModifiedBy>
  <cp:revision>3</cp:revision>
  <dcterms:created xsi:type="dcterms:W3CDTF">2026-09-27T20:40:35Z</dcterms:created>
  <dcterms:modified xsi:type="dcterms:W3CDTF">2026-09-27T20:59:59Z</dcterms:modified>
</cp:coreProperties>
</file>